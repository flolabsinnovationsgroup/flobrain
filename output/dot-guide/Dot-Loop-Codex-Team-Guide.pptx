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22612a485546b1" /><Relationship Type="http://schemas.openxmlformats.org/officeDocument/2006/relationships/extended-properties" Target="/docProps/app.xml" Id="Rf355af5173974246" /><Relationship Type="http://schemas.openxmlformats.org/officeDocument/2006/relationships/officeDocument" Target="/ppt/presentation.xml" Id="R7aaed8c2b1bd4cbf" /></Relationships>
</file>

<file path=ppt/presentation.xml><?xml version="1.0" encoding="utf-8"?>
<p:presentation xmlns:p="http://schemas.openxmlformats.org/presentationml/2006/main">
  <p:sldMasterIdLst>
    <p:sldMasterId xmlns:r="http://schemas.openxmlformats.org/officeDocument/2006/relationships" id="2147483648" r:id="R4cb5e6f55ab04c87"/>
  </p:sldMasterIdLst>
  <p:notesMasterIdLst>
    <p:notesMasterId xmlns:r="http://schemas.openxmlformats.org/officeDocument/2006/relationships" r:id="R1f956887441e4396"/>
  </p:notesMasterIdLst>
  <p:sldIdLst>
    <p:sldId xmlns:r="http://schemas.openxmlformats.org/officeDocument/2006/relationships" id="256" r:id="Rcf880bd3279543fd"/>
    <p:sldId xmlns:r="http://schemas.openxmlformats.org/officeDocument/2006/relationships" id="257" r:id="Ra6afe3f52ed0446a"/>
    <p:sldId xmlns:r="http://schemas.openxmlformats.org/officeDocument/2006/relationships" id="258" r:id="Rebfc522057d24c20"/>
    <p:sldId xmlns:r="http://schemas.openxmlformats.org/officeDocument/2006/relationships" id="259" r:id="R606e67e1406c4544"/>
    <p:sldId xmlns:r="http://schemas.openxmlformats.org/officeDocument/2006/relationships" id="260" r:id="Rf0d5eb508a57413a"/>
    <p:sldId xmlns:r="http://schemas.openxmlformats.org/officeDocument/2006/relationships" id="261" r:id="R44873b02028a4ab9"/>
    <p:sldId xmlns:r="http://schemas.openxmlformats.org/officeDocument/2006/relationships" id="262" r:id="R4d79d1acd26b482d"/>
    <p:sldId xmlns:r="http://schemas.openxmlformats.org/officeDocument/2006/relationships" id="263" r:id="R944bbb7b7329428c"/>
    <p:sldId xmlns:r="http://schemas.openxmlformats.org/officeDocument/2006/relationships" id="264" r:id="R8c511338416045eb"/>
    <p:sldId xmlns:r="http://schemas.openxmlformats.org/officeDocument/2006/relationships" id="265" r:id="R7595e0a7e7924c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cc9180379b4607" /><Relationship Type="http://schemas.openxmlformats.org/officeDocument/2006/relationships/slideMaster" Target="/ppt/slideMasters/slideMaster1.xml" Id="R4cb5e6f55ab04c87" /><Relationship Type="http://schemas.openxmlformats.org/officeDocument/2006/relationships/notesMaster" Target="/ppt/notesMasters/notesMaster1.xml" Id="R1f956887441e4396" /><Relationship Type="http://schemas.openxmlformats.org/officeDocument/2006/relationships/presProps" Target="/ppt/presProps.xml" Id="Re5e170ac2ef14f93" /><Relationship Type="http://schemas.openxmlformats.org/officeDocument/2006/relationships/tableStyles" Target="/ppt/tableStyles.xml" Id="Re4e17ba67a1443e3" /><Relationship Type="http://schemas.openxmlformats.org/officeDocument/2006/relationships/slide" Target="/ppt/slides/slide1.xml" Id="Rcf880bd3279543fd" /><Relationship Type="http://schemas.openxmlformats.org/officeDocument/2006/relationships/slide" Target="/ppt/slides/slide2.xml" Id="Ra6afe3f52ed0446a" /><Relationship Type="http://schemas.openxmlformats.org/officeDocument/2006/relationships/slide" Target="/ppt/slides/slide3.xml" Id="Rebfc522057d24c20" /><Relationship Type="http://schemas.openxmlformats.org/officeDocument/2006/relationships/slide" Target="/ppt/slides/slide4.xml" Id="R606e67e1406c4544" /><Relationship Type="http://schemas.openxmlformats.org/officeDocument/2006/relationships/slide" Target="/ppt/slides/slide5.xml" Id="Rf0d5eb508a57413a" /><Relationship Type="http://schemas.openxmlformats.org/officeDocument/2006/relationships/slide" Target="/ppt/slides/slide6.xml" Id="R44873b02028a4ab9" /><Relationship Type="http://schemas.openxmlformats.org/officeDocument/2006/relationships/slide" Target="/ppt/slides/slide7.xml" Id="R4d79d1acd26b482d" /><Relationship Type="http://schemas.openxmlformats.org/officeDocument/2006/relationships/slide" Target="/ppt/slides/slide8.xml" Id="R944bbb7b7329428c" /><Relationship Type="http://schemas.openxmlformats.org/officeDocument/2006/relationships/slide" Target="/ppt/slides/slide9.xml" Id="R8c511338416045eb" /><Relationship Type="http://schemas.openxmlformats.org/officeDocument/2006/relationships/slide" Target="/ppt/slides/slide10.xml" Id="R7595e0a7e7924c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089eaaf63244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43c41986a541ad" /><Relationship Type="http://schemas.openxmlformats.org/officeDocument/2006/relationships/notesMaster" Target="/ppt/notesMasters/notesMaster1.xml" Id="R7dafcd7b45ae45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ef1034ceb24741" /><Relationship Type="http://schemas.openxmlformats.org/officeDocument/2006/relationships/notesMaster" Target="/ppt/notesMasters/notesMaster1.xml" Id="R42a385dcb83044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fbedc7209742c4" /><Relationship Type="http://schemas.openxmlformats.org/officeDocument/2006/relationships/notesMaster" Target="/ppt/notesMasters/notesMaster1.xml" Id="R39c6549c93f441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5bfcd7e19a4d2b" /><Relationship Type="http://schemas.openxmlformats.org/officeDocument/2006/relationships/notesMaster" Target="/ppt/notesMasters/notesMaster1.xml" Id="Rd6ecbf96d8ee4b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e329bf07ed4bdd" /><Relationship Type="http://schemas.openxmlformats.org/officeDocument/2006/relationships/notesMaster" Target="/ppt/notesMasters/notesMaster1.xml" Id="Rb7fcf0a0e60d41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a5765179c04da2" /><Relationship Type="http://schemas.openxmlformats.org/officeDocument/2006/relationships/notesMaster" Target="/ppt/notesMasters/notesMaster1.xml" Id="Rf1688d269dd649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6ae189a76242f7" /><Relationship Type="http://schemas.openxmlformats.org/officeDocument/2006/relationships/notesMaster" Target="/ppt/notesMasters/notesMaster1.xml" Id="R90b573911bfa4e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d3f76d561c48ba" /><Relationship Type="http://schemas.openxmlformats.org/officeDocument/2006/relationships/notesMaster" Target="/ppt/notesMasters/notesMaster1.xml" Id="R8bb211cb73904f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dd07d6c1f14b81" /><Relationship Type="http://schemas.openxmlformats.org/officeDocument/2006/relationships/notesMaster" Target="/ppt/notesMasters/notesMaster1.xml" Id="R27634781b3ad46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8837b108ca4691" /><Relationship Type="http://schemas.openxmlformats.org/officeDocument/2006/relationships/notesMaster" Target="/ppt/notesMasters/notesMaster1.xml" Id="R5c1c32db74ca4e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choose between three ways of working with AI. Dot is useful when you want follow-through over time. A repeated check and a focused task are different needs. This presentation uses the built-in Claude Code command; a custom loop may behave differently.</a:t>
            </a:r>
          </a:p>
          <a:p xmlns:a="http://schemas.openxmlformats.org/drawingml/2006/main">
            <a:r>
              <a:t>Sources: https://learn.chatgpt.com/docs/dots; https://code.claude.com/docs/en/scheduled-tasks; https://developers.openai.com/cookbook/examples/codex/using_goals_in_codex</a:t>
            </a:r>
          </a:p>
          <a:p xmlns:a="http://schemas.openxmlformats.org/drawingml/2006/main">
            <a:r>
              <a:t>Official artwork: https://learn.chatgpt.com/images/codex/dots/default-dot.svg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an assistant who remembers the assignment and follows up between conversations. Dot can research, work with documents and data, and help build software. It can finish an individual task even while a broader responsibility continues. Availability is rolling out and depends on account and workspace access.</a:t>
            </a:r>
          </a:p>
          <a:p xmlns:a="http://schemas.openxmlformats.org/drawingml/2006/main">
            <a:r>
              <a:t/>
            </a:r>
          </a:p>
          <a:p xmlns:a="http://schemas.openxmlformats.org/drawingml/2006/main">
            <a:r>
              <a:t>Sources (accessed 30 September 2026):</a:t>
            </a:r>
          </a:p>
          <a:p xmlns:a="http://schemas.openxmlformats.org/drawingml/2006/main">
            <a:r>
              <a:t>https://learn.chatgpt.com/docs/dots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verifier idea describes a custom repair loop: attempt, test, fix, repeat. It is useful, but it is not the definition of Claude Code’s built-in /loop. In current Claude Code, omitting an interval can let Claude choose the delay. Both approaches involve model judgment. Dot can use objective checks too.</a:t>
            </a:r>
          </a:p>
          <a:p xmlns:a="http://schemas.openxmlformats.org/drawingml/2006/main">
            <a:r>
              <a:t/>
            </a:r>
          </a:p>
          <a:p xmlns:a="http://schemas.openxmlformats.org/drawingml/2006/main">
            <a:r>
              <a:t>Sources (accessed 30 September 2026):</a:t>
            </a:r>
          </a:p>
          <a:p xmlns:a="http://schemas.openxmlformats.org/drawingml/2006/main">
            <a:r>
              <a:t>https://code.claude.com/docs/en/scheduled-tasks</a:t>
            </a:r>
          </a:p>
          <a:p xmlns:a="http://schemas.openxmlformats.org/drawingml/2006/main">
            <a:r>
              <a:t>https://learn.chatgpt.com/docs/dots/tasks-and-memory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recommended defaults, not exclusive capabilities. A normal Codex task can investigate, edit and test within one request. Dot adds coordination and follow-up across work. For a difficult task with a measurable finish line, Codex Goals are another option.</a:t>
            </a:r>
          </a:p>
          <a:p xmlns:a="http://schemas.openxmlformats.org/drawingml/2006/main">
            <a:r>
              <a:t/>
            </a:r>
          </a:p>
          <a:p xmlns:a="http://schemas.openxmlformats.org/drawingml/2006/main">
            <a:r>
              <a:t>Sources (accessed 30 September 2026):</a:t>
            </a:r>
          </a:p>
          <a:p xmlns:a="http://schemas.openxmlformats.org/drawingml/2006/main">
            <a:r>
              <a:t>https://learn.chatgpt.com/docs/dots</a:t>
            </a:r>
          </a:p>
          <a:p xmlns:a="http://schemas.openxmlformats.org/drawingml/2006/main">
            <a:r>
              <a:t>https://code.claude.com/docs/en/scheduled-tasks</a:t>
            </a:r>
          </a:p>
          <a:p xmlns:a="http://schemas.openxmlformats.org/drawingml/2006/main">
            <a:r>
              <a:t>https://developers.openai.com/cookbook/examples/codex/using_goals_in_codex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examples, assuming the needed tools are connected. The distinction is what you are delegating: a deliverable, a repeated check, or responsibility for follow-through. Dot could coordinate a code fix, but opening Codex directly is usually simpler when that fix is all you need.</a:t>
            </a:r>
          </a:p>
          <a:p xmlns:a="http://schemas.openxmlformats.org/drawingml/2006/main">
            <a:r>
              <a:t/>
            </a:r>
          </a:p>
          <a:p xmlns:a="http://schemas.openxmlformats.org/drawingml/2006/main">
            <a:r>
              <a:t>Sources (accessed 30 September 2026):</a:t>
            </a:r>
          </a:p>
          <a:p xmlns:a="http://schemas.openxmlformats.org/drawingml/2006/main">
            <a:r>
              <a:t>https://learn.chatgpt.com/docs/dots</a:t>
            </a:r>
          </a:p>
          <a:p xmlns:a="http://schemas.openxmlformats.org/drawingml/2006/main">
            <a:r>
              <a:t>https://code.claude.com/docs/en/scheduled-tasks</a:t>
            </a:r>
          </a:p>
          <a:p xmlns:a="http://schemas.openxmlformats.org/drawingml/2006/main">
            <a:r>
              <a:t>https://developers.openai.com/cookbook/examples/codex/using_goals_in_codex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desktop app, open the Your dot area if shown; official documentation describes setup in ChatGPT desktop or a desktop browser. Follow the introduction. Account availability varies. Computer access is optional, and messaging access does not automatically connect files or apps.</a:t>
            </a:r>
          </a:p>
          <a:p xmlns:a="http://schemas.openxmlformats.org/drawingml/2006/main">
            <a:r>
              <a:t/>
            </a:r>
          </a:p>
          <a:p xmlns:a="http://schemas.openxmlformats.org/drawingml/2006/main">
            <a:r>
              <a:t>Sources (accessed 30 September 2026):</a:t>
            </a:r>
          </a:p>
          <a:p xmlns:a="http://schemas.openxmlformats.org/drawingml/2006/main">
            <a:r>
              <a:t>https://learn.chatgpt.com/docs/dots/getting-started</a:t>
            </a:r>
          </a:p>
          <a:p xmlns:a="http://schemas.openxmlformats.org/drawingml/2006/main">
            <a:r>
              <a:t>https://learn.chatgpt.com/docs/dots/computers-and-apps</a:t>
            </a:r>
          </a:p>
          <a:p xmlns:a="http://schemas.openxmlformats.org/drawingml/2006/main">
            <a:r>
              <a:t>https://learn.chatgpt.com/docs/dots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team prompt. Replace the sources with material your dot can access. After it replies, check the saved schedule and inspect the first checklist. Refine what counts as a blocker using feedback. This does not mean the underlying model is retrained.</a:t>
            </a:r>
          </a:p>
          <a:p xmlns:a="http://schemas.openxmlformats.org/drawingml/2006/main">
            <a:r>
              <a:t/>
            </a:r>
          </a:p>
          <a:p xmlns:a="http://schemas.openxmlformats.org/drawingml/2006/main">
            <a:r>
              <a:t>Sources (accessed 30 September 2026):</a:t>
            </a:r>
          </a:p>
          <a:p xmlns:a="http://schemas.openxmlformats.org/drawingml/2006/main">
            <a:r>
              <a:t>https://learn.chatgpt.com/docs/dots/getting-started</a:t>
            </a:r>
          </a:p>
          <a:p xmlns:a="http://schemas.openxmlformats.org/drawingml/2006/main">
            <a:r>
              <a:t>https://learn.chatgpt.com/docs/dots/tasks-and-memory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Dot can create and coordinate tasks, including coding tasks. New cloud coding work needs a configured Codex cloud environment. Existing tasks stay on their original environment. A delegated task has its own conversation; it does not automatically inherit every Dot conversation.</a:t>
            </a:r>
          </a:p>
          <a:p xmlns:a="http://schemas.openxmlformats.org/drawingml/2006/main">
            <a:r>
              <a:t/>
            </a:r>
          </a:p>
          <a:p xmlns:a="http://schemas.openxmlformats.org/drawingml/2006/main">
            <a:r>
              <a:t>Sources (accessed 30 September 2026):</a:t>
            </a:r>
          </a:p>
          <a:p xmlns:a="http://schemas.openxmlformats.org/drawingml/2006/main">
            <a:r>
              <a:t>https://learn.chatgpt.com/docs/dots/tasks-and-memory</a:t>
            </a:r>
          </a:p>
          <a:p xmlns:a="http://schemas.openxmlformats.org/drawingml/2006/main">
            <a:r>
              <a:t>https://learn.chatgpt.com/docs/dots/computers-and-apps</a:t>
            </a:r>
          </a:p>
          <a:p xmlns:a="http://schemas.openxmlformats.org/drawingml/2006/main">
            <a:r>
              <a:t>https://developers.openai.com/cookbook/examples/codex/using_goals_in_codex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Built-in review and app permissions apply. The same rules can permit an action, ask for approval, or require a step from you. A completion message is not proof that an output is correct: inspect it. Stopping work does not reverse completed changes.</a:t>
            </a:r>
          </a:p>
          <a:p xmlns:a="http://schemas.openxmlformats.org/drawingml/2006/main">
            <a:r>
              <a:t/>
            </a:r>
          </a:p>
          <a:p xmlns:a="http://schemas.openxmlformats.org/drawingml/2006/main">
            <a:r>
              <a:t>Sources (accessed 30 September 2026):</a:t>
            </a:r>
          </a:p>
          <a:p xmlns:a="http://schemas.openxmlformats.org/drawingml/2006/main">
            <a:r>
              <a:t>https://learn.chatgpt.com/docs/dots/controls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room to choose: “Summarize this document” → normal chat. “Check the build while I work” → /loop. “Keep next week’s client demo on track” → Dot. These recommendations are based on scope and follow-up, not whether a result is subjective. For fixed-interval /loop, ask Claude to cancel the job when finished; recurring jobs expire after seven days in current docs. Re-check product documentation before reusing this deck after feature changes.</a:t>
            </a:r>
          </a:p>
          <a:p xmlns:a="http://schemas.openxmlformats.org/drawingml/2006/main">
            <a:r>
              <a:t/>
            </a:r>
          </a:p>
          <a:p xmlns:a="http://schemas.openxmlformats.org/drawingml/2006/main">
            <a:r>
              <a:t>Sources (accessed 30 September 2026):</a:t>
            </a:r>
          </a:p>
          <a:p xmlns:a="http://schemas.openxmlformats.org/drawingml/2006/main">
            <a:r>
              <a:t>https://code.claude.com/docs/en/scheduled-tasks</a:t>
            </a:r>
          </a:p>
          <a:p xmlns:a="http://schemas.openxmlformats.org/drawingml/2006/main">
            <a:r>
              <a:t>https://learn.chatgpt.com/docs/dots</a:t>
            </a:r>
          </a:p>
          <a:p xmlns:a="http://schemas.openxmlformats.org/drawingml/2006/main">
            <a:r>
              <a:t>https://developers.openai.com/cookbook/examples/codex/using_goals_in_codex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3c5025c255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dc3b5e93934807" /><Relationship Type="http://schemas.openxmlformats.org/officeDocument/2006/relationships/slideLayout" Target="/ppt/slideLayouts/slideLayout1.xml" Id="R6c483305a9bc49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483305a9bc49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9365d5d9e049bd" /><Relationship Type="http://schemas.openxmlformats.org/officeDocument/2006/relationships/image" Target="/ppt/media/image.png" Id="R390f2d4be9674a1f" /><Relationship Type="http://schemas.openxmlformats.org/officeDocument/2006/relationships/notesSlide" Target="/ppt/notesSlides/notesSlide1.xml" Id="R7e7b03536cb549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45885708fe49ba" /><Relationship Type="http://schemas.openxmlformats.org/officeDocument/2006/relationships/notesSlide" Target="/ppt/notesSlides/notesSlide2.xml" Id="Rcb85423ffd4e47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6c5ff8a91049fe" /><Relationship Type="http://schemas.openxmlformats.org/officeDocument/2006/relationships/notesSlide" Target="/ppt/notesSlides/notesSlide3.xml" Id="R71e6ee9b614c44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dfbb06d9c24e26" /><Relationship Type="http://schemas.openxmlformats.org/officeDocument/2006/relationships/notesSlide" Target="/ppt/notesSlides/notesSlide4.xml" Id="Rf690a326142847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556f5fc4164dd6" /><Relationship Type="http://schemas.openxmlformats.org/officeDocument/2006/relationships/notesSlide" Target="/ppt/notesSlides/notesSlide5.xml" Id="R77a54b66a88d42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35ead46e164229" /><Relationship Type="http://schemas.openxmlformats.org/officeDocument/2006/relationships/notesSlide" Target="/ppt/notesSlides/notesSlide6.xml" Id="R77652ef5a30d4c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cfa68f0e6e4172" /><Relationship Type="http://schemas.openxmlformats.org/officeDocument/2006/relationships/notesSlide" Target="/ppt/notesSlides/notesSlide7.xml" Id="R35b0d50b001d4d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ba391f445d4c1a" /><Relationship Type="http://schemas.openxmlformats.org/officeDocument/2006/relationships/notesSlide" Target="/ppt/notesSlides/notesSlide8.xml" Id="R01d75a2b132e4e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106f793c5a4e85" /><Relationship Type="http://schemas.openxmlformats.org/officeDocument/2006/relationships/notesSlide" Target="/ppt/notesSlides/notesSlide9.xml" Id="R7711a50a1e0d40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b95b83a5394fd3" /><Relationship Type="http://schemas.openxmlformats.org/officeDocument/2006/relationships/notesSlide" Target="/ppt/notesSlides/notesSlide10.xml" Id="Ra7aab46ad12b4011" /></Relationships>
</file>

<file path=ppt/slides/slide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9A56A3-8386-4149-BD0F-2E956A81B997}"/>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6A111B3-A20D-4480-B577-34E6173569B2}"/>
              </a:ext>
            </a:extLst>
          </p:cNvPr>
          <p:cNvSpPr>
            <a:spLocks xmlns:a="http://schemas.openxmlformats.org/drawingml/2006/main" noGrp="1"/>
          </p:cNvSpPr>
          <p:nvPr/>
        </p:nvSpPr>
        <p:spPr>
          <a:xfrm xmlns:a="http://schemas.openxmlformats.org/drawingml/2006/main">
            <a:off x="685800" y="1409700"/>
            <a:ext cx="657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182321"/>
                </a:solidFill>
                <a:latin typeface="Arial"/>
                <a:ea typeface="Arial"/>
                <a:cs typeface="Arial"/>
              </a:defRPr>
            </a:pPr>
            <a:r>
              <a:rPr sz="6300" b="1">
                <a:solidFill>
                  <a:srgbClr val="182321"/>
                </a:solidFill>
                <a:latin typeface="Arial"/>
                <a:ea typeface="Arial"/>
                <a:cs typeface="Arial"/>
              </a:rPr>
              <a:t>Meet Dot</a:t>
            </a:r>
          </a:p>
        </p:txBody>
      </p:sp>
      <p:sp>
        <p:nvSpPr>
          <p:cNvPr id="3" name="">
            <a:extLst xmlns:a="http://schemas.openxmlformats.org/drawingml/2006/main">
              <a:ext uri="{FF2B5EF4-FFF2-40B4-BE49-F238E27FC236}">
                <a16:creationId xmlns:a16="http://schemas.microsoft.com/office/drawing/2014/main" id="{54EDF94C-8A47-4BFD-A142-2FCF56644440}"/>
              </a:ext>
            </a:extLst>
          </p:cNvPr>
          <p:cNvSpPr>
            <a:spLocks xmlns:a="http://schemas.openxmlformats.org/drawingml/2006/main" noGrp="1"/>
          </p:cNvSpPr>
          <p:nvPr/>
        </p:nvSpPr>
        <p:spPr>
          <a:xfrm xmlns:a="http://schemas.openxmlformats.org/drawingml/2006/main">
            <a:off x="723900" y="26670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2321"/>
                </a:solidFill>
                <a:latin typeface="Arial"/>
                <a:ea typeface="Arial"/>
                <a:cs typeface="Arial"/>
              </a:defRPr>
            </a:pPr>
            <a:r>
              <a:rPr sz="2850" b="0">
                <a:solidFill>
                  <a:srgbClr val="182321"/>
                </a:solidFill>
                <a:latin typeface="Arial"/>
                <a:ea typeface="Arial"/>
                <a:cs typeface="Arial"/>
              </a:rPr>
              <a:t>An AI teammate for ongoing work</a:t>
            </a:r>
          </a:p>
        </p:txBody>
      </p:sp>
      <p:sp>
        <p:nvSpPr>
          <p:cNvPr id="4" name="">
            <a:extLst xmlns:a="http://schemas.openxmlformats.org/drawingml/2006/main">
              <a:ext uri="{FF2B5EF4-FFF2-40B4-BE49-F238E27FC236}">
                <a16:creationId xmlns:a16="http://schemas.microsoft.com/office/drawing/2014/main" id="{CAD0325B-63FA-480B-A437-81DE1A3C2BEB}"/>
              </a:ext>
            </a:extLst>
          </p:cNvPr>
          <p:cNvSpPr>
            <a:spLocks xmlns:a="http://schemas.openxmlformats.org/drawingml/2006/main" noGrp="1"/>
          </p:cNvSpPr>
          <p:nvPr/>
        </p:nvSpPr>
        <p:spPr>
          <a:xfrm xmlns:a="http://schemas.openxmlformats.org/drawingml/2006/main">
            <a:off x="723900" y="405765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35F"/>
                </a:solidFill>
                <a:latin typeface="Arial"/>
                <a:ea typeface="Arial"/>
                <a:cs typeface="Arial"/>
              </a:defRPr>
            </a:pPr>
            <a:r>
              <a:rPr sz="2175" b="0">
                <a:solidFill>
                  <a:srgbClr val="59635F"/>
                </a:solidFill>
                <a:latin typeface="Arial"/>
                <a:ea typeface="Arial"/>
                <a:cs typeface="Arial"/>
              </a:rPr>
              <a:t>When to use Dot, Claude /loop,</a:t>
            </a:r>
          </a:p>
          <a:p xmlns:a="http://schemas.openxmlformats.org/drawingml/2006/main">
            <a:pPr>
              <a:defRPr sz="2175" b="0">
                <a:solidFill>
                  <a:srgbClr val="59635F"/>
                </a:solidFill>
                <a:latin typeface="Arial"/>
                <a:ea typeface="Arial"/>
                <a:cs typeface="Arial"/>
              </a:defRPr>
            </a:pPr>
            <a:r>
              <a:rPr sz="2175" b="0">
                <a:solidFill>
                  <a:srgbClr val="59635F"/>
                </a:solidFill>
                <a:latin typeface="Arial"/>
                <a:ea typeface="Arial"/>
                <a:cs typeface="Arial"/>
              </a:rPr>
              <a:t>or a normal Codex chat</a:t>
            </a:r>
          </a:p>
        </p:txBody>
      </p:sp>
      <p:sp>
        <p:nvSpPr>
          <p:cNvPr id="5" name="">
            <a:extLst xmlns:a="http://schemas.openxmlformats.org/drawingml/2006/main">
              <a:ext uri="{FF2B5EF4-FFF2-40B4-BE49-F238E27FC236}">
                <a16:creationId xmlns:a16="http://schemas.microsoft.com/office/drawing/2014/main" id="{365439A7-EDD5-4544-98B6-7F672FA0B193}"/>
              </a:ext>
            </a:extLst>
          </p:cNvPr>
          <p:cNvSpPr>
            <a:spLocks xmlns:a="http://schemas.openxmlformats.org/drawingml/2006/main" noGrp="1"/>
          </p:cNvSpPr>
          <p:nvPr/>
        </p:nvSpPr>
        <p:spPr>
          <a:xfrm xmlns:a="http://schemas.openxmlformats.org/drawingml/2006/main">
            <a:off x="723900" y="6191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Team guide · 30 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90f2d4be9674a1f"/>
          <a:stretch xmlns:a="http://schemas.openxmlformats.org/drawingml/2006/main"/>
        </p:blipFill>
        <p:spPr>
          <a:xfrm xmlns:a="http://schemas.openxmlformats.org/drawingml/2006/main">
            <a:off x="7762875" y="1619250"/>
            <a:ext cx="3286125" cy="3286125"/>
          </a:xfrm>
          <a:prstGeom xmlns:a="http://schemas.openxmlformats.org/drawingml/2006/main" prst="rect">
            <a:avLst/>
          </a:prstGeom>
        </p:spPr>
      </p:pic>
    </p:spTree>
    <p:extLst>
      <p:ext uri="{BB962C8B-B14F-4D97-AF65-F5344CB8AC3E}">
        <p14:creationId xmlns:p14="http://schemas.microsoft.com/office/powerpoint/2010/main" val="456984264"/>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4DA897-5B3C-40F4-9A34-D307E8BD9372}"/>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What Dot does</a:t>
            </a:r>
          </a:p>
        </p:txBody>
      </p:sp>
      <p:sp>
        <p:nvSpPr>
          <p:cNvPr id="2" name="">
            <a:extLst xmlns:a="http://schemas.openxmlformats.org/drawingml/2006/main">
              <a:ext uri="{FF2B5EF4-FFF2-40B4-BE49-F238E27FC236}">
                <a16:creationId xmlns:a16="http://schemas.microsoft.com/office/drawing/2014/main" id="{3E8E0235-9DB6-4821-852A-0A651AFC7F91}"/>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9D10FCE-AA09-44AD-A87D-BC215A67BD60}"/>
              </a:ext>
            </a:extLst>
          </p:cNvPr>
          <p:cNvSpPr>
            <a:spLocks xmlns:a="http://schemas.openxmlformats.org/drawingml/2006/main" noGrp="1"/>
          </p:cNvSpPr>
          <p:nvPr/>
        </p:nvSpPr>
        <p:spPr>
          <a:xfrm xmlns:a="http://schemas.openxmlformats.org/drawingml/2006/main">
            <a:off x="685800" y="1762125"/>
            <a:ext cx="10477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321"/>
                </a:solidFill>
                <a:latin typeface="Arial"/>
                <a:ea typeface="Arial"/>
                <a:cs typeface="Arial"/>
              </a:defRPr>
            </a:pPr>
            <a:r>
              <a:rPr sz="3225" b="1">
                <a:solidFill>
                  <a:srgbClr val="182321"/>
                </a:solidFill>
                <a:latin typeface="Arial"/>
                <a:ea typeface="Arial"/>
                <a:cs typeface="Arial"/>
              </a:rPr>
              <a:t>You give it a responsibility.</a:t>
            </a:r>
          </a:p>
          <a:p xmlns:a="http://schemas.openxmlformats.org/drawingml/2006/main">
            <a:pPr>
              <a:defRPr sz="3225" b="1">
                <a:solidFill>
                  <a:srgbClr val="182321"/>
                </a:solidFill>
                <a:latin typeface="Arial"/>
                <a:ea typeface="Arial"/>
                <a:cs typeface="Arial"/>
              </a:defRPr>
            </a:pPr>
            <a:r>
              <a:rPr sz="3225" b="1">
                <a:solidFill>
                  <a:srgbClr val="182321"/>
                </a:solidFill>
                <a:latin typeface="Arial"/>
                <a:ea typeface="Arial"/>
                <a:cs typeface="Arial"/>
              </a:rPr>
              <a:t>It keeps work moving between conversations.</a:t>
            </a:r>
          </a:p>
        </p:txBody>
      </p:sp>
      <p:sp>
        <p:nvSpPr>
          <p:cNvPr id="4" name="">
            <a:extLst xmlns:a="http://schemas.openxmlformats.org/drawingml/2006/main">
              <a:ext uri="{FF2B5EF4-FFF2-40B4-BE49-F238E27FC236}">
                <a16:creationId xmlns:a16="http://schemas.microsoft.com/office/drawing/2014/main" id="{6CDF03EB-BE85-4B01-828A-C6FBB1233058}"/>
              </a:ext>
            </a:extLst>
          </p:cNvPr>
          <p:cNvSpPr>
            <a:spLocks xmlns:a="http://schemas.openxmlformats.org/drawingml/2006/main" noGrp="1"/>
          </p:cNvSpPr>
          <p:nvPr/>
        </p:nvSpPr>
        <p:spPr>
          <a:xfrm xmlns:a="http://schemas.openxmlformats.org/drawingml/2006/main">
            <a:off x="685800" y="34956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Keeps context</a:t>
            </a:r>
          </a:p>
        </p:txBody>
      </p:sp>
      <p:sp>
        <p:nvSpPr>
          <p:cNvPr id="5" name="">
            <a:extLst xmlns:a="http://schemas.openxmlformats.org/drawingml/2006/main">
              <a:ext uri="{FF2B5EF4-FFF2-40B4-BE49-F238E27FC236}">
                <a16:creationId xmlns:a16="http://schemas.microsoft.com/office/drawing/2014/main" id="{3B95A392-1968-49BD-8F62-E3D3A60CA756}"/>
              </a:ext>
            </a:extLst>
          </p:cNvPr>
          <p:cNvSpPr>
            <a:spLocks xmlns:a="http://schemas.openxmlformats.org/drawingml/2006/main" noGrp="1"/>
          </p:cNvSpPr>
          <p:nvPr/>
        </p:nvSpPr>
        <p:spPr>
          <a:xfrm xmlns:a="http://schemas.openxmlformats.org/drawingml/2006/main">
            <a:off x="685800" y="4038600"/>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Uses relevant memory</a:t>
            </a:r>
          </a:p>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and saved notes.</a:t>
            </a:r>
          </a:p>
        </p:txBody>
      </p:sp>
      <p:sp>
        <p:nvSpPr>
          <p:cNvPr id="6" name="">
            <a:extLst xmlns:a="http://schemas.openxmlformats.org/drawingml/2006/main">
              <a:ext uri="{FF2B5EF4-FFF2-40B4-BE49-F238E27FC236}">
                <a16:creationId xmlns:a16="http://schemas.microsoft.com/office/drawing/2014/main" id="{B4440863-7FA4-4868-A4BD-711CAB8F4E0E}"/>
              </a:ext>
            </a:extLst>
          </p:cNvPr>
          <p:cNvSpPr>
            <a:spLocks xmlns:a="http://schemas.openxmlformats.org/drawingml/2006/main" noGrp="1"/>
          </p:cNvSpPr>
          <p:nvPr/>
        </p:nvSpPr>
        <p:spPr>
          <a:xfrm xmlns:a="http://schemas.openxmlformats.org/drawingml/2006/main">
            <a:off x="4391025" y="34956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Takes next steps</a:t>
            </a:r>
          </a:p>
        </p:txBody>
      </p:sp>
      <p:sp>
        <p:nvSpPr>
          <p:cNvPr id="7" name="">
            <a:extLst xmlns:a="http://schemas.openxmlformats.org/drawingml/2006/main">
              <a:ext uri="{FF2B5EF4-FFF2-40B4-BE49-F238E27FC236}">
                <a16:creationId xmlns:a16="http://schemas.microsoft.com/office/drawing/2014/main" id="{DD6DF3C9-16E8-4DB6-8B2A-92091292125B}"/>
              </a:ext>
            </a:extLst>
          </p:cNvPr>
          <p:cNvSpPr>
            <a:spLocks xmlns:a="http://schemas.openxmlformats.org/drawingml/2006/main" noGrp="1"/>
          </p:cNvSpPr>
          <p:nvPr/>
        </p:nvSpPr>
        <p:spPr>
          <a:xfrm xmlns:a="http://schemas.openxmlformats.org/drawingml/2006/main">
            <a:off x="4391025" y="40386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Works, follows up, and</a:t>
            </a:r>
          </a:p>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can delegate tasks.</a:t>
            </a:r>
          </a:p>
        </p:txBody>
      </p:sp>
      <p:sp>
        <p:nvSpPr>
          <p:cNvPr id="8" name="">
            <a:extLst xmlns:a="http://schemas.openxmlformats.org/drawingml/2006/main">
              <a:ext uri="{FF2B5EF4-FFF2-40B4-BE49-F238E27FC236}">
                <a16:creationId xmlns:a16="http://schemas.microsoft.com/office/drawing/2014/main" id="{7CF74694-70C5-4CF6-92FF-BEACEFE36C50}"/>
              </a:ext>
            </a:extLst>
          </p:cNvPr>
          <p:cNvSpPr>
            <a:spLocks xmlns:a="http://schemas.openxmlformats.org/drawingml/2006/main" noGrp="1"/>
          </p:cNvSpPr>
          <p:nvPr/>
        </p:nvSpPr>
        <p:spPr>
          <a:xfrm xmlns:a="http://schemas.openxmlformats.org/drawingml/2006/main">
            <a:off x="8096250" y="34956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Brings you decisions</a:t>
            </a:r>
          </a:p>
        </p:txBody>
      </p:sp>
      <p:sp>
        <p:nvSpPr>
          <p:cNvPr id="9" name="">
            <a:extLst xmlns:a="http://schemas.openxmlformats.org/drawingml/2006/main">
              <a:ext uri="{FF2B5EF4-FFF2-40B4-BE49-F238E27FC236}">
                <a16:creationId xmlns:a16="http://schemas.microsoft.com/office/drawing/2014/main" id="{8A31EC6C-4734-4ACA-84C1-94CD7F4F933B}"/>
              </a:ext>
            </a:extLst>
          </p:cNvPr>
          <p:cNvSpPr>
            <a:spLocks xmlns:a="http://schemas.openxmlformats.org/drawingml/2006/main" noGrp="1"/>
          </p:cNvSpPr>
          <p:nvPr/>
        </p:nvSpPr>
        <p:spPr>
          <a:xfrm xmlns:a="http://schemas.openxmlformats.org/drawingml/2006/main">
            <a:off x="8096250" y="4038600"/>
            <a:ext cx="338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Returns results and asks</a:t>
            </a:r>
          </a:p>
          <a:p xmlns:a="http://schemas.openxmlformats.org/drawingml/2006/main">
            <a:pPr>
              <a:defRPr sz="2175" b="0">
                <a:solidFill>
                  <a:srgbClr val="182321"/>
                </a:solidFill>
                <a:latin typeface="Arial"/>
                <a:ea typeface="Arial"/>
                <a:cs typeface="Arial"/>
              </a:defRPr>
            </a:pPr>
            <a:r>
              <a:rPr sz="2175" b="0">
                <a:solidFill>
                  <a:srgbClr val="182321"/>
                </a:solidFill>
                <a:latin typeface="Arial"/>
                <a:ea typeface="Arial"/>
                <a:cs typeface="Arial"/>
              </a:rPr>
              <a:t>when your input is needed.</a:t>
            </a:r>
          </a:p>
        </p:txBody>
      </p:sp>
      <p:sp>
        <p:nvSpPr>
          <p:cNvPr id="10" name="">
            <a:extLst xmlns:a="http://schemas.openxmlformats.org/drawingml/2006/main">
              <a:ext uri="{FF2B5EF4-FFF2-40B4-BE49-F238E27FC236}">
                <a16:creationId xmlns:a16="http://schemas.microsoft.com/office/drawing/2014/main" id="{2F96F514-2802-461A-B674-8668ED9D414D}"/>
              </a:ext>
            </a:extLst>
          </p:cNvPr>
          <p:cNvSpPr>
            <a:spLocks xmlns:a="http://schemas.openxmlformats.org/drawingml/2006/main" noGrp="1"/>
          </p:cNvSpPr>
          <p:nvPr/>
        </p:nvSpPr>
        <p:spPr>
          <a:xfrm xmlns:a="http://schemas.openxmlformats.org/drawingml/2006/main">
            <a:off x="685800" y="56483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87D69"/>
                </a:solidFill>
                <a:latin typeface="Arial"/>
                <a:ea typeface="Arial"/>
                <a:cs typeface="Arial"/>
              </a:defRPr>
            </a:pPr>
            <a:r>
              <a:rPr sz="2025" b="0">
                <a:solidFill>
                  <a:srgbClr val="087D69"/>
                </a:solidFill>
                <a:latin typeface="Arial"/>
                <a:ea typeface="Arial"/>
                <a:cs typeface="Arial"/>
              </a:rPr>
              <a:t>Its own cloud computer can work while your laptop is off.</a:t>
            </a:r>
          </a:p>
        </p:txBody>
      </p:sp>
    </p:spTree>
    <p:extLst>
      <p:ext uri="{BB962C8B-B14F-4D97-AF65-F5344CB8AC3E}">
        <p14:creationId xmlns:p14="http://schemas.microsoft.com/office/powerpoint/2010/main" val="390967753"/>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4FDADD-B592-457F-9558-A3CD60CD7554}"/>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Two meanings of “loop”</a:t>
            </a:r>
          </a:p>
        </p:txBody>
      </p:sp>
      <p:sp>
        <p:nvSpPr>
          <p:cNvPr id="2" name="">
            <a:extLst xmlns:a="http://schemas.openxmlformats.org/drawingml/2006/main">
              <a:ext uri="{FF2B5EF4-FFF2-40B4-BE49-F238E27FC236}">
                <a16:creationId xmlns:a16="http://schemas.microsoft.com/office/drawing/2014/main" id="{3775D3F4-0B71-437E-A9B5-3848CAAC4EE7}"/>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F125374-706A-4C77-9AAC-D72E1234AC69}"/>
              </a:ext>
            </a:extLst>
          </p:cNvPr>
          <p:cNvSpPr>
            <a:spLocks xmlns:a="http://schemas.openxmlformats.org/drawingml/2006/main" noGrp="1"/>
          </p:cNvSpPr>
          <p:nvPr/>
        </p:nvSpPr>
        <p:spPr>
          <a:xfrm xmlns:a="http://schemas.openxmlformats.org/drawingml/2006/main">
            <a:off x="685800" y="18097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Claude Code: built-in /loop</a:t>
            </a:r>
          </a:p>
        </p:txBody>
      </p:sp>
      <p:sp>
        <p:nvSpPr>
          <p:cNvPr id="4" name="">
            <a:extLst xmlns:a="http://schemas.openxmlformats.org/drawingml/2006/main">
              <a:ext uri="{FF2B5EF4-FFF2-40B4-BE49-F238E27FC236}">
                <a16:creationId xmlns:a16="http://schemas.microsoft.com/office/drawing/2014/main" id="{2ABC02B3-3417-4483-BCAD-7BF2AB624DF8}"/>
              </a:ext>
            </a:extLst>
          </p:cNvPr>
          <p:cNvSpPr>
            <a:spLocks xmlns:a="http://schemas.openxmlformats.org/drawingml/2006/main" noGrp="1"/>
          </p:cNvSpPr>
          <p:nvPr/>
        </p:nvSpPr>
        <p:spPr>
          <a:xfrm xmlns:a="http://schemas.openxmlformats.org/drawingml/2006/main">
            <a:off x="685800" y="2381250"/>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321"/>
                </a:solidFill>
                <a:latin typeface="Arial"/>
                <a:ea typeface="Arial"/>
                <a:cs typeface="Arial"/>
              </a:defRPr>
            </a:pPr>
            <a:r>
              <a:rPr sz="2850" b="1">
                <a:solidFill>
                  <a:srgbClr val="182321"/>
                </a:solidFill>
                <a:latin typeface="Arial"/>
                <a:ea typeface="Arial"/>
                <a:cs typeface="Arial"/>
              </a:rPr>
              <a:t>Repeats a prompt during</a:t>
            </a:r>
          </a:p>
          <a:p xmlns:a="http://schemas.openxmlformats.org/drawingml/2006/main">
            <a:pPr>
              <a:defRPr sz="2850" b="1">
                <a:solidFill>
                  <a:srgbClr val="182321"/>
                </a:solidFill>
                <a:latin typeface="Arial"/>
                <a:ea typeface="Arial"/>
                <a:cs typeface="Arial"/>
              </a:defRPr>
            </a:pPr>
            <a:r>
              <a:rPr sz="2850" b="1">
                <a:solidFill>
                  <a:srgbClr val="182321"/>
                </a:solidFill>
                <a:latin typeface="Arial"/>
                <a:ea typeface="Arial"/>
                <a:cs typeface="Arial"/>
              </a:rPr>
              <a:t>a running session.</a:t>
            </a:r>
          </a:p>
        </p:txBody>
      </p:sp>
      <p:sp>
        <p:nvSpPr>
          <p:cNvPr id="5" name="">
            <a:extLst xmlns:a="http://schemas.openxmlformats.org/drawingml/2006/main">
              <a:ext uri="{FF2B5EF4-FFF2-40B4-BE49-F238E27FC236}">
                <a16:creationId xmlns:a16="http://schemas.microsoft.com/office/drawing/2014/main" id="{8D7A5242-66B0-4EC1-A943-82F581679027}"/>
              </a:ext>
            </a:extLst>
          </p:cNvPr>
          <p:cNvSpPr>
            <a:spLocks xmlns:a="http://schemas.openxmlformats.org/drawingml/2006/main" noGrp="1"/>
          </p:cNvSpPr>
          <p:nvPr/>
        </p:nvSpPr>
        <p:spPr>
          <a:xfrm xmlns:a="http://schemas.openxmlformats.org/drawingml/2006/main">
            <a:off x="685800" y="3771900"/>
            <a:ext cx="519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87D69"/>
                </a:solidFill>
                <a:latin typeface="Arial"/>
                <a:ea typeface="Arial"/>
                <a:cs typeface="Arial"/>
              </a:defRPr>
            </a:pPr>
            <a:r>
              <a:rPr sz="1950" b="0">
                <a:solidFill>
                  <a:srgbClr val="087D69"/>
                </a:solidFill>
                <a:latin typeface="Arial"/>
                <a:ea typeface="Arial"/>
                <a:cs typeface="Arial"/>
              </a:rPr>
              <a:t>/loop 5m check the release build</a:t>
            </a:r>
          </a:p>
        </p:txBody>
      </p:sp>
      <p:sp>
        <p:nvSpPr>
          <p:cNvPr id="6" name="">
            <a:extLst xmlns:a="http://schemas.openxmlformats.org/drawingml/2006/main">
              <a:ext uri="{FF2B5EF4-FFF2-40B4-BE49-F238E27FC236}">
                <a16:creationId xmlns:a16="http://schemas.microsoft.com/office/drawing/2014/main" id="{A9DB15C8-313F-481D-844E-3F95D109FE98}"/>
              </a:ext>
            </a:extLst>
          </p:cNvPr>
          <p:cNvSpPr>
            <a:spLocks xmlns:a="http://schemas.openxmlformats.org/drawingml/2006/main" noGrp="1"/>
          </p:cNvSpPr>
          <p:nvPr/>
        </p:nvSpPr>
        <p:spPr>
          <a:xfrm xmlns:a="http://schemas.openxmlformats.org/drawingml/2006/main">
            <a:off x="6667500" y="1809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Custom: repeat until verified</a:t>
            </a:r>
          </a:p>
        </p:txBody>
      </p:sp>
      <p:sp>
        <p:nvSpPr>
          <p:cNvPr id="7" name="">
            <a:extLst xmlns:a="http://schemas.openxmlformats.org/drawingml/2006/main">
              <a:ext uri="{FF2B5EF4-FFF2-40B4-BE49-F238E27FC236}">
                <a16:creationId xmlns:a16="http://schemas.microsoft.com/office/drawing/2014/main" id="{9CEC21D0-E2E9-4AFE-A509-07D6E443589E}"/>
              </a:ext>
            </a:extLst>
          </p:cNvPr>
          <p:cNvSpPr>
            <a:spLocks xmlns:a="http://schemas.openxmlformats.org/drawingml/2006/main" noGrp="1"/>
          </p:cNvSpPr>
          <p:nvPr/>
        </p:nvSpPr>
        <p:spPr>
          <a:xfrm xmlns:a="http://schemas.openxmlformats.org/drawingml/2006/main">
            <a:off x="6667500" y="238125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321"/>
                </a:solidFill>
                <a:latin typeface="Arial"/>
                <a:ea typeface="Arial"/>
                <a:cs typeface="Arial"/>
              </a:defRPr>
            </a:pPr>
            <a:r>
              <a:rPr sz="2850" b="1">
                <a:solidFill>
                  <a:srgbClr val="182321"/>
                </a:solidFill>
                <a:latin typeface="Arial"/>
                <a:ea typeface="Arial"/>
                <a:cs typeface="Arial"/>
              </a:rPr>
              <a:t>Tries a fix, runs a test,</a:t>
            </a:r>
          </a:p>
          <a:p xmlns:a="http://schemas.openxmlformats.org/drawingml/2006/main">
            <a:pPr>
              <a:defRPr sz="2850" b="1">
                <a:solidFill>
                  <a:srgbClr val="182321"/>
                </a:solidFill>
                <a:latin typeface="Arial"/>
                <a:ea typeface="Arial"/>
                <a:cs typeface="Arial"/>
              </a:defRPr>
            </a:pPr>
            <a:r>
              <a:rPr sz="2850" b="1">
                <a:solidFill>
                  <a:srgbClr val="182321"/>
                </a:solidFill>
                <a:latin typeface="Arial"/>
                <a:ea typeface="Arial"/>
                <a:cs typeface="Arial"/>
              </a:rPr>
              <a:t>and retries if it fails.</a:t>
            </a:r>
          </a:p>
        </p:txBody>
      </p:sp>
      <p:sp>
        <p:nvSpPr>
          <p:cNvPr id="8" name="">
            <a:extLst xmlns:a="http://schemas.openxmlformats.org/drawingml/2006/main">
              <a:ext uri="{FF2B5EF4-FFF2-40B4-BE49-F238E27FC236}">
                <a16:creationId xmlns:a16="http://schemas.microsoft.com/office/drawing/2014/main" id="{02558AD7-2F4B-4517-92BA-E9DBC3C3356D}"/>
              </a:ext>
            </a:extLst>
          </p:cNvPr>
          <p:cNvSpPr>
            <a:spLocks xmlns:a="http://schemas.openxmlformats.org/drawingml/2006/main" noGrp="1"/>
          </p:cNvSpPr>
          <p:nvPr/>
        </p:nvSpPr>
        <p:spPr>
          <a:xfrm xmlns:a="http://schemas.openxmlformats.org/drawingml/2006/main">
            <a:off x="6667500" y="37719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35F"/>
                </a:solidFill>
                <a:latin typeface="Arial"/>
                <a:ea typeface="Arial"/>
                <a:cs typeface="Arial"/>
              </a:defRPr>
            </a:pPr>
            <a:r>
              <a:rPr sz="2100" b="0">
                <a:solidFill>
                  <a:srgbClr val="59635F"/>
                </a:solidFill>
                <a:latin typeface="Arial"/>
                <a:ea typeface="Arial"/>
                <a:cs typeface="Arial"/>
              </a:rPr>
              <a:t>Example: fix a function until</a:t>
            </a:r>
          </a:p>
          <a:p xmlns:a="http://schemas.openxmlformats.org/drawingml/2006/main">
            <a:pPr>
              <a:defRPr sz="2100" b="0">
                <a:solidFill>
                  <a:srgbClr val="59635F"/>
                </a:solidFill>
                <a:latin typeface="Arial"/>
                <a:ea typeface="Arial"/>
                <a:cs typeface="Arial"/>
              </a:defRPr>
            </a:pPr>
            <a:r>
              <a:rPr sz="2100" b="0">
                <a:solidFill>
                  <a:srgbClr val="59635F"/>
                </a:solidFill>
                <a:latin typeface="Arial"/>
                <a:ea typeface="Arial"/>
                <a:cs typeface="Arial"/>
              </a:rPr>
              <a:t>its agreed tests pass.</a:t>
            </a:r>
          </a:p>
        </p:txBody>
      </p:sp>
      <p:sp>
        <p:nvSpPr>
          <p:cNvPr id="9" name="">
            <a:extLst xmlns:a="http://schemas.openxmlformats.org/drawingml/2006/main">
              <a:ext uri="{FF2B5EF4-FFF2-40B4-BE49-F238E27FC236}">
                <a16:creationId xmlns:a16="http://schemas.microsoft.com/office/drawing/2014/main" id="{480F0CF5-C45E-4FB7-ABF0-2A08DE9C6585}"/>
              </a:ext>
            </a:extLst>
          </p:cNvPr>
          <p:cNvSpPr>
            <a:spLocks xmlns:a="http://schemas.openxmlformats.org/drawingml/2006/main" noGrp="1"/>
          </p:cNvSpPr>
          <p:nvPr/>
        </p:nvSpPr>
        <p:spPr>
          <a:xfrm xmlns:a="http://schemas.openxmlformats.org/drawingml/2006/main">
            <a:off x="685800" y="5457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321"/>
                </a:solidFill>
                <a:latin typeface="Arial"/>
                <a:ea typeface="Arial"/>
                <a:cs typeface="Arial"/>
              </a:defRPr>
            </a:pPr>
            <a:r>
              <a:rPr sz="2250" b="1">
                <a:solidFill>
                  <a:srgbClr val="182321"/>
                </a:solidFill>
                <a:latin typeface="Arial"/>
                <a:ea typeface="Arial"/>
                <a:cs typeface="Arial"/>
              </a:rPr>
              <a:t>“Has a test” versus “uses judgment” does not separate Dot from /loop.</a:t>
            </a:r>
          </a:p>
        </p:txBody>
      </p:sp>
    </p:spTree>
    <p:extLst>
      <p:ext uri="{BB962C8B-B14F-4D97-AF65-F5344CB8AC3E}">
        <p14:creationId xmlns:p14="http://schemas.microsoft.com/office/powerpoint/2010/main" val="1469498039"/>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E6C54F-1393-481B-AF12-2C34C72CA5FE}"/>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Choose by the work you want done</a:t>
            </a:r>
          </a:p>
        </p:txBody>
      </p:sp>
      <p:sp>
        <p:nvSpPr>
          <p:cNvPr id="2" name="">
            <a:extLst xmlns:a="http://schemas.openxmlformats.org/drawingml/2006/main">
              <a:ext uri="{FF2B5EF4-FFF2-40B4-BE49-F238E27FC236}">
                <a16:creationId xmlns:a16="http://schemas.microsoft.com/office/drawing/2014/main" id="{12013D28-FAA4-43A6-8312-B7A920E30C2C}"/>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04</a:t>
            </a:r>
          </a:p>
        </p:txBody>
      </p:sp>
      <p:graphicFrame>
        <p:nvGraphicFramePr>
          <p:cNvPr id="7" name=""/>
          <p:cNvGraphicFramePr/>
          <p:nvPr/>
        </p:nvGraphicFramePr>
        <p:xfrm>
          <a:off xmlns:a="http://schemas.openxmlformats.org/drawingml/2006/main" x="685800" y="1905000"/>
          <a:ext xmlns:a="http://schemas.openxmlformats.org/drawingml/2006/main" cx="10820400" cy="3381375"/>
        </p:xfrm>
        <a:graphic xmlns:a="http://schemas.openxmlformats.org/drawingml/2006/main">
          <a:graphicData uri="http://schemas.openxmlformats.org/drawingml/2006/table">
            <a:tbl>
              <a:tblPr/>
              <a:tblGrid>
                <a:gridCol w="3686175"/>
                <a:gridCol w="3143250"/>
                <a:gridCol w="3990975"/>
              </a:tblGrid>
              <a:tr h="619125">
                <a:tc>
                  <a:txBody>
                    <a:bodyPr/>
                    <a:lstStyle/>
                    <a:p>
                      <a:r>
                        <a:rPr sz="2025" b="1">
                          <a:solidFill>
                            <a:srgbClr val="FFFFFF"/>
                          </a:solidFill>
                          <a:latin typeface="Arial"/>
                          <a:ea typeface="Arial"/>
                          <a:cs typeface="Arial"/>
                        </a:rPr>
                        <a:t>Need</a:t>
                      </a:r>
                    </a:p>
                  </a:txBody>
                  <a:tcPr marL="91440" marR="91440" marT="45720" marB="45720">
                    <a:solidFill>
                      <a:srgbClr val="123D35"/>
                    </a:solidFill>
                  </a:tcPr>
                </a:tc>
                <a:tc>
                  <a:txBody>
                    <a:bodyPr/>
                    <a:lstStyle/>
                    <a:p>
                      <a:r>
                        <a:rPr sz="2025" b="1">
                          <a:solidFill>
                            <a:srgbClr val="FFFFFF"/>
                          </a:solidFill>
                          <a:latin typeface="Arial"/>
                          <a:ea typeface="Arial"/>
                          <a:cs typeface="Arial"/>
                        </a:rPr>
                        <a:t>Best starting point</a:t>
                      </a:r>
                    </a:p>
                  </a:txBody>
                  <a:tcPr marL="91440" marR="91440" marT="45720" marB="45720">
                    <a:solidFill>
                      <a:srgbClr val="123D35"/>
                    </a:solidFill>
                  </a:tcPr>
                </a:tc>
                <a:tc>
                  <a:txBody>
                    <a:bodyPr/>
                    <a:lstStyle/>
                    <a:p>
                      <a:r>
                        <a:rPr sz="2025" b="1">
                          <a:solidFill>
                            <a:srgbClr val="FFFFFF"/>
                          </a:solidFill>
                          <a:latin typeface="Arial"/>
                          <a:ea typeface="Arial"/>
                          <a:cs typeface="Arial"/>
                        </a:rPr>
                        <a:t>Why</a:t>
                      </a:r>
                    </a:p>
                  </a:txBody>
                  <a:tcPr marL="91440" marR="91440" marT="45720" marB="45720">
                    <a:solidFill>
                      <a:srgbClr val="123D35"/>
                    </a:solidFill>
                  </a:tcPr>
                </a:tc>
              </a:tr>
              <a:tr h="914400">
                <a:tc>
                  <a:txBody>
                    <a:bodyPr/>
                    <a:lstStyle/>
                    <a:p>
                      <a:r>
                        <a:rPr sz="2025" b="0">
                          <a:solidFill>
                            <a:srgbClr val="182321"/>
                          </a:solidFill>
                          <a:latin typeface="Arial"/>
                          <a:ea typeface="Arial"/>
                          <a:cs typeface="Arial"/>
                        </a:rPr>
                        <a:t>One answer, file, or code change</a:t>
                      </a:r>
                    </a:p>
                  </a:txBody>
                  <a:tcPr marL="91440" marR="91440" marT="45720" marB="45720">
                    <a:solidFill>
                      <a:srgbClr val="FFFFFF"/>
                    </a:solidFill>
                  </a:tcPr>
                </a:tc>
                <a:tc>
                  <a:txBody>
                    <a:bodyPr/>
                    <a:lstStyle/>
                    <a:p>
                      <a:r>
                        <a:rPr sz="2025" b="1">
                          <a:solidFill>
                            <a:srgbClr val="182321"/>
                          </a:solidFill>
                          <a:latin typeface="Arial"/>
                          <a:ea typeface="Arial"/>
                          <a:cs typeface="Arial"/>
                        </a:rPr>
                        <a:t>Normal Codex chat</a:t>
                      </a:r>
                    </a:p>
                  </a:txBody>
                  <a:tcPr marL="91440" marR="91440" marT="45720" marB="45720">
                    <a:solidFill>
                      <a:srgbClr val="FFFFFF"/>
                    </a:solidFill>
                  </a:tcPr>
                </a:tc>
                <a:tc>
                  <a:txBody>
                    <a:bodyPr/>
                    <a:lstStyle/>
                    <a:p>
                      <a:r>
                        <a:rPr sz="2025" b="0">
                          <a:solidFill>
                            <a:srgbClr val="182321"/>
                          </a:solidFill>
                          <a:latin typeface="Arial"/>
                          <a:ea typeface="Arial"/>
                          <a:cs typeface="Arial"/>
                        </a:rPr>
                        <a:t>Work directly on a specific result</a:t>
                      </a:r>
                    </a:p>
                  </a:txBody>
                  <a:tcPr marL="91440" marR="91440" marT="45720" marB="45720">
                    <a:solidFill>
                      <a:srgbClr val="FFFFFF"/>
                    </a:solidFill>
                  </a:tcPr>
                </a:tc>
              </a:tr>
              <a:tr h="914400">
                <a:tc>
                  <a:txBody>
                    <a:bodyPr/>
                    <a:lstStyle/>
                    <a:p>
                      <a:r>
                        <a:rPr sz="2025" b="0">
                          <a:solidFill>
                            <a:srgbClr val="182321"/>
                          </a:solidFill>
                          <a:latin typeface="Arial"/>
                          <a:ea typeface="Arial"/>
                          <a:cs typeface="Arial"/>
                        </a:rPr>
                        <a:t>Repeat a check in Claude</a:t>
                      </a:r>
                    </a:p>
                  </a:txBody>
                  <a:tcPr marL="91440" marR="91440" marT="45720" marB="45720">
                    <a:solidFill>
                      <a:srgbClr val="EAF0E8"/>
                    </a:solidFill>
                  </a:tcPr>
                </a:tc>
                <a:tc>
                  <a:txBody>
                    <a:bodyPr/>
                    <a:lstStyle/>
                    <a:p>
                      <a:r>
                        <a:rPr sz="2025" b="1">
                          <a:solidFill>
                            <a:srgbClr val="182321"/>
                          </a:solidFill>
                          <a:latin typeface="Arial"/>
                          <a:ea typeface="Arial"/>
                          <a:cs typeface="Arial"/>
                        </a:rPr>
                        <a:t>Claude /loop</a:t>
                      </a:r>
                    </a:p>
                  </a:txBody>
                  <a:tcPr marL="91440" marR="91440" marT="45720" marB="45720">
                    <a:solidFill>
                      <a:srgbClr val="EAF0E8"/>
                    </a:solidFill>
                  </a:tcPr>
                </a:tc>
                <a:tc>
                  <a:txBody>
                    <a:bodyPr/>
                    <a:lstStyle/>
                    <a:p>
                      <a:r>
                        <a:rPr sz="2025" b="0">
                          <a:solidFill>
                            <a:srgbClr val="182321"/>
                          </a:solidFill>
                          <a:latin typeface="Arial"/>
                          <a:ea typeface="Arial"/>
                          <a:cs typeface="Arial"/>
                        </a:rPr>
                        <a:t>Reuse the current session and tools</a:t>
                      </a:r>
                    </a:p>
                  </a:txBody>
                  <a:tcPr marL="91440" marR="91440" marT="45720" marB="45720">
                    <a:solidFill>
                      <a:srgbClr val="EAF0E8"/>
                    </a:solidFill>
                  </a:tcPr>
                </a:tc>
              </a:tr>
              <a:tr h="914400">
                <a:tc>
                  <a:txBody>
                    <a:bodyPr/>
                    <a:lstStyle/>
                    <a:p>
                      <a:r>
                        <a:rPr sz="2025" b="0">
                          <a:solidFill>
                            <a:srgbClr val="182321"/>
                          </a:solidFill>
                          <a:latin typeface="Arial"/>
                          <a:ea typeface="Arial"/>
                          <a:cs typeface="Arial"/>
                        </a:rPr>
                        <a:t>Follow changing work over days</a:t>
                      </a:r>
                    </a:p>
                  </a:txBody>
                  <a:tcPr marL="91440" marR="91440" marT="45720" marB="45720">
                    <a:solidFill>
                      <a:srgbClr val="FFFFFF"/>
                    </a:solidFill>
                  </a:tcPr>
                </a:tc>
                <a:tc>
                  <a:txBody>
                    <a:bodyPr/>
                    <a:lstStyle/>
                    <a:p>
                      <a:r>
                        <a:rPr sz="2025" b="1">
                          <a:solidFill>
                            <a:srgbClr val="182321"/>
                          </a:solidFill>
                          <a:latin typeface="Arial"/>
                          <a:ea typeface="Arial"/>
                          <a:cs typeface="Arial"/>
                        </a:rPr>
                        <a:t>Dot</a:t>
                      </a:r>
                    </a:p>
                  </a:txBody>
                  <a:tcPr marL="91440" marR="91440" marT="45720" marB="45720">
                    <a:solidFill>
                      <a:srgbClr val="FFFFFF"/>
                    </a:solidFill>
                  </a:tcPr>
                </a:tc>
                <a:tc>
                  <a:txBody>
                    <a:bodyPr/>
                    <a:lstStyle/>
                    <a:p>
                      <a:r>
                        <a:rPr sz="2025" b="0">
                          <a:solidFill>
                            <a:srgbClr val="182321"/>
                          </a:solidFill>
                          <a:latin typeface="Arial"/>
                          <a:ea typeface="Arial"/>
                          <a:cs typeface="Arial"/>
                        </a:rPr>
                        <a:t>Maintain context and follow through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C664D76-7590-442D-B637-7283D008D77B}"/>
              </a:ext>
            </a:extLst>
          </p:cNvPr>
          <p:cNvSpPr>
            <a:spLocks xmlns:a="http://schemas.openxmlformats.org/drawingml/2006/main" noGrp="1"/>
          </p:cNvSpPr>
          <p:nvPr/>
        </p:nvSpPr>
        <p:spPr>
          <a:xfrm xmlns:a="http://schemas.openxmlformats.org/drawingml/2006/main">
            <a:off x="685800" y="5724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87D69"/>
                </a:solidFill>
                <a:latin typeface="Arial"/>
                <a:ea typeface="Arial"/>
                <a:cs typeface="Arial"/>
              </a:defRPr>
            </a:pPr>
            <a:r>
              <a:rPr sz="2100" b="0">
                <a:solidFill>
                  <a:srgbClr val="087D69"/>
                </a:solidFill>
                <a:latin typeface="Arial"/>
                <a:ea typeface="Arial"/>
                <a:cs typeface="Arial"/>
              </a:rPr>
              <a:t>A clear finish line? A normal task—or Codex Goal—may be enough.</a:t>
            </a:r>
          </a:p>
        </p:txBody>
      </p:sp>
    </p:spTree>
    <p:extLst>
      <p:ext uri="{BB962C8B-B14F-4D97-AF65-F5344CB8AC3E}">
        <p14:creationId xmlns:p14="http://schemas.microsoft.com/office/powerpoint/2010/main" val="241348509"/>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2DBCC6-6DA2-45EB-A560-66DB8095B188}"/>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One launch, three useful requests</a:t>
            </a:r>
          </a:p>
        </p:txBody>
      </p:sp>
      <p:sp>
        <p:nvSpPr>
          <p:cNvPr id="2" name="">
            <a:extLst xmlns:a="http://schemas.openxmlformats.org/drawingml/2006/main">
              <a:ext uri="{FF2B5EF4-FFF2-40B4-BE49-F238E27FC236}">
                <a16:creationId xmlns:a16="http://schemas.microsoft.com/office/drawing/2014/main" id="{B1C6C14C-7A1E-44CF-AF4D-21B66AFC7CB5}"/>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DFB1CB6-00F2-418D-9340-BBFC9B9F2E83}"/>
              </a:ext>
            </a:extLst>
          </p:cNvPr>
          <p:cNvSpPr>
            <a:spLocks xmlns:a="http://schemas.openxmlformats.org/drawingml/2006/main" noGrp="1"/>
          </p:cNvSpPr>
          <p:nvPr/>
        </p:nvSpPr>
        <p:spPr>
          <a:xfrm xmlns:a="http://schemas.openxmlformats.org/drawingml/2006/main">
            <a:off x="685800" y="189547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Codex chat</a:t>
            </a:r>
          </a:p>
        </p:txBody>
      </p:sp>
      <p:sp>
        <p:nvSpPr>
          <p:cNvPr id="4" name="">
            <a:extLst xmlns:a="http://schemas.openxmlformats.org/drawingml/2006/main">
              <a:ext uri="{FF2B5EF4-FFF2-40B4-BE49-F238E27FC236}">
                <a16:creationId xmlns:a16="http://schemas.microsoft.com/office/drawing/2014/main" id="{FBFE4AAD-EF53-4A44-8653-9481EEEB6A46}"/>
              </a:ext>
            </a:extLst>
          </p:cNvPr>
          <p:cNvSpPr>
            <a:spLocks xmlns:a="http://schemas.openxmlformats.org/drawingml/2006/main" noGrp="1"/>
          </p:cNvSpPr>
          <p:nvPr/>
        </p:nvSpPr>
        <p:spPr>
          <a:xfrm xmlns:a="http://schemas.openxmlformats.org/drawingml/2006/main">
            <a:off x="3105150" y="1809750"/>
            <a:ext cx="8353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321"/>
                </a:solidFill>
                <a:latin typeface="Arial"/>
                <a:ea typeface="Arial"/>
                <a:cs typeface="Arial"/>
              </a:defRPr>
            </a:pPr>
            <a:r>
              <a:rPr sz="2550" b="1">
                <a:solidFill>
                  <a:srgbClr val="182321"/>
                </a:solidFill>
                <a:latin typeface="Arial"/>
                <a:ea typeface="Arial"/>
                <a:cs typeface="Arial"/>
              </a:rPr>
              <a:t>“Fix the broken signup button and test it.”</a:t>
            </a:r>
          </a:p>
        </p:txBody>
      </p:sp>
      <p:sp>
        <p:nvSpPr>
          <p:cNvPr id="5" name="">
            <a:extLst xmlns:a="http://schemas.openxmlformats.org/drawingml/2006/main">
              <a:ext uri="{FF2B5EF4-FFF2-40B4-BE49-F238E27FC236}">
                <a16:creationId xmlns:a16="http://schemas.microsoft.com/office/drawing/2014/main" id="{98122547-913D-454D-91C0-EA10FA018781}"/>
              </a:ext>
            </a:extLst>
          </p:cNvPr>
          <p:cNvSpPr>
            <a:spLocks xmlns:a="http://schemas.openxmlformats.org/drawingml/2006/main" noGrp="1"/>
          </p:cNvSpPr>
          <p:nvPr/>
        </p:nvSpPr>
        <p:spPr>
          <a:xfrm xmlns:a="http://schemas.openxmlformats.org/drawingml/2006/main">
            <a:off x="685800" y="3333750"/>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Claude /loop</a:t>
            </a:r>
          </a:p>
        </p:txBody>
      </p:sp>
      <p:sp>
        <p:nvSpPr>
          <p:cNvPr id="6" name="">
            <a:extLst xmlns:a="http://schemas.openxmlformats.org/drawingml/2006/main">
              <a:ext uri="{FF2B5EF4-FFF2-40B4-BE49-F238E27FC236}">
                <a16:creationId xmlns:a16="http://schemas.microsoft.com/office/drawing/2014/main" id="{993EAE2F-9441-445C-B8C0-F9A02AD06B08}"/>
              </a:ext>
            </a:extLst>
          </p:cNvPr>
          <p:cNvSpPr>
            <a:spLocks xmlns:a="http://schemas.openxmlformats.org/drawingml/2006/main" noGrp="1"/>
          </p:cNvSpPr>
          <p:nvPr/>
        </p:nvSpPr>
        <p:spPr>
          <a:xfrm xmlns:a="http://schemas.openxmlformats.org/drawingml/2006/main">
            <a:off x="3105150" y="3228975"/>
            <a:ext cx="835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321"/>
                </a:solidFill>
                <a:latin typeface="Arial"/>
                <a:ea typeface="Arial"/>
                <a:cs typeface="Arial"/>
              </a:defRPr>
            </a:pPr>
            <a:r>
              <a:rPr sz="2550" b="1">
                <a:solidFill>
                  <a:srgbClr val="182321"/>
                </a:solidFill>
                <a:latin typeface="Arial"/>
                <a:ea typeface="Arial"/>
                <a:cs typeface="Arial"/>
              </a:rPr>
              <a:t>“Check the release build every five minutes.”</a:t>
            </a:r>
          </a:p>
        </p:txBody>
      </p:sp>
      <p:sp>
        <p:nvSpPr>
          <p:cNvPr id="7" name="">
            <a:extLst xmlns:a="http://schemas.openxmlformats.org/drawingml/2006/main">
              <a:ext uri="{FF2B5EF4-FFF2-40B4-BE49-F238E27FC236}">
                <a16:creationId xmlns:a16="http://schemas.microsoft.com/office/drawing/2014/main" id="{F794A6CA-B132-4924-BA7F-B94F1CCE6C4D}"/>
              </a:ext>
            </a:extLst>
          </p:cNvPr>
          <p:cNvSpPr>
            <a:spLocks xmlns:a="http://schemas.openxmlformats.org/drawingml/2006/main" noGrp="1"/>
          </p:cNvSpPr>
          <p:nvPr/>
        </p:nvSpPr>
        <p:spPr>
          <a:xfrm xmlns:a="http://schemas.openxmlformats.org/drawingml/2006/main">
            <a:off x="685800" y="477202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Dot</a:t>
            </a:r>
          </a:p>
        </p:txBody>
      </p:sp>
      <p:sp>
        <p:nvSpPr>
          <p:cNvPr id="8" name="">
            <a:extLst xmlns:a="http://schemas.openxmlformats.org/drawingml/2006/main">
              <a:ext uri="{FF2B5EF4-FFF2-40B4-BE49-F238E27FC236}">
                <a16:creationId xmlns:a16="http://schemas.microsoft.com/office/drawing/2014/main" id="{0D5E7AE4-2FA4-4FC9-A989-4B751315F307}"/>
              </a:ext>
            </a:extLst>
          </p:cNvPr>
          <p:cNvSpPr>
            <a:spLocks xmlns:a="http://schemas.openxmlformats.org/drawingml/2006/main" noGrp="1"/>
          </p:cNvSpPr>
          <p:nvPr/>
        </p:nvSpPr>
        <p:spPr>
          <a:xfrm xmlns:a="http://schemas.openxmlformats.org/drawingml/2006/main">
            <a:off x="3105150" y="4667250"/>
            <a:ext cx="83534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2321"/>
                </a:solidFill>
                <a:latin typeface="Arial"/>
                <a:ea typeface="Arial"/>
                <a:cs typeface="Arial"/>
              </a:defRPr>
            </a:pPr>
            <a:r>
              <a:rPr sz="2550" b="1">
                <a:solidFill>
                  <a:srgbClr val="182321"/>
                </a:solidFill>
                <a:latin typeface="Arial"/>
                <a:ea typeface="Arial"/>
                <a:cs typeface="Arial"/>
              </a:rPr>
              <a:t>“Track launch blockers this week. Prepare updates</a:t>
            </a:r>
          </a:p>
          <a:p xmlns:a="http://schemas.openxmlformats.org/drawingml/2006/main">
            <a:pPr>
              <a:defRPr sz="2550" b="1">
                <a:solidFill>
                  <a:srgbClr val="182321"/>
                </a:solidFill>
                <a:latin typeface="Arial"/>
                <a:ea typeface="Arial"/>
                <a:cs typeface="Arial"/>
              </a:defRPr>
            </a:pPr>
            <a:r>
              <a:rPr sz="2550" b="1">
                <a:solidFill>
                  <a:srgbClr val="182321"/>
                </a:solidFill>
                <a:latin typeface="Arial"/>
                <a:ea typeface="Arial"/>
                <a:cs typeface="Arial"/>
              </a:rPr>
              <a:t>and bring me decisions that need my input.”</a:t>
            </a:r>
          </a:p>
        </p:txBody>
      </p:sp>
    </p:spTree>
    <p:extLst>
      <p:ext uri="{BB962C8B-B14F-4D97-AF65-F5344CB8AC3E}">
        <p14:creationId xmlns:p14="http://schemas.microsoft.com/office/powerpoint/2010/main" val="56265521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8060EF-6AC0-41E6-8100-D938DB0CD670}"/>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Start working with Dot</a:t>
            </a:r>
          </a:p>
        </p:txBody>
      </p:sp>
      <p:sp>
        <p:nvSpPr>
          <p:cNvPr id="2" name="">
            <a:extLst xmlns:a="http://schemas.openxmlformats.org/drawingml/2006/main">
              <a:ext uri="{FF2B5EF4-FFF2-40B4-BE49-F238E27FC236}">
                <a16:creationId xmlns:a16="http://schemas.microsoft.com/office/drawing/2014/main" id="{6700FB3B-69AB-4979-A8C1-03EBA7C0E681}"/>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F0B32F5-D035-460E-BB49-CBBA312A6CA2}"/>
              </a:ext>
            </a:extLst>
          </p:cNvPr>
          <p:cNvSpPr>
            <a:spLocks xmlns:a="http://schemas.openxmlformats.org/drawingml/2006/main" noGrp="1"/>
          </p:cNvSpPr>
          <p:nvPr/>
        </p:nvSpPr>
        <p:spPr>
          <a:xfrm xmlns:a="http://schemas.openxmlformats.org/drawingml/2006/main">
            <a:off x="685800" y="17240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D69"/>
                </a:solidFill>
                <a:latin typeface="Arial"/>
                <a:ea typeface="Arial"/>
                <a:cs typeface="Arial"/>
              </a:defRPr>
            </a:pPr>
            <a:r>
              <a:rPr sz="3375" b="1">
                <a:solidFill>
                  <a:srgbClr val="087D69"/>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E3664D9-B28F-435C-AF7C-6A6969CA07A2}"/>
              </a:ext>
            </a:extLst>
          </p:cNvPr>
          <p:cNvSpPr>
            <a:spLocks xmlns:a="http://schemas.openxmlformats.org/drawingml/2006/main" noGrp="1"/>
          </p:cNvSpPr>
          <p:nvPr/>
        </p:nvSpPr>
        <p:spPr>
          <a:xfrm xmlns:a="http://schemas.openxmlformats.org/drawingml/2006/main">
            <a:off x="1476375" y="17240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321"/>
                </a:solidFill>
                <a:latin typeface="Arial"/>
                <a:ea typeface="Arial"/>
                <a:cs typeface="Arial"/>
              </a:defRPr>
            </a:pPr>
            <a:r>
              <a:rPr sz="2400" b="1">
                <a:solidFill>
                  <a:srgbClr val="182321"/>
                </a:solidFill>
                <a:latin typeface="Arial"/>
                <a:ea typeface="Arial"/>
                <a:cs typeface="Arial"/>
              </a:rPr>
              <a:t>Open your dot</a:t>
            </a:r>
          </a:p>
        </p:txBody>
      </p:sp>
      <p:sp>
        <p:nvSpPr>
          <p:cNvPr id="5" name="">
            <a:extLst xmlns:a="http://schemas.openxmlformats.org/drawingml/2006/main">
              <a:ext uri="{FF2B5EF4-FFF2-40B4-BE49-F238E27FC236}">
                <a16:creationId xmlns:a16="http://schemas.microsoft.com/office/drawing/2014/main" id="{F10A1203-9E72-4677-AB3B-9E0C8A67C76F}"/>
              </a:ext>
            </a:extLst>
          </p:cNvPr>
          <p:cNvSpPr>
            <a:spLocks xmlns:a="http://schemas.openxmlformats.org/drawingml/2006/main" noGrp="1"/>
          </p:cNvSpPr>
          <p:nvPr/>
        </p:nvSpPr>
        <p:spPr>
          <a:xfrm xmlns:a="http://schemas.openxmlformats.org/drawingml/2006/main">
            <a:off x="1476375" y="21621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35F"/>
                </a:solidFill>
                <a:latin typeface="Arial"/>
                <a:ea typeface="Arial"/>
                <a:cs typeface="Arial"/>
              </a:defRPr>
            </a:pPr>
            <a:r>
              <a:rPr sz="2025" b="0">
                <a:solidFill>
                  <a:srgbClr val="59635F"/>
                </a:solidFill>
                <a:latin typeface="Arial"/>
                <a:ea typeface="Arial"/>
                <a:cs typeface="Arial"/>
              </a:rPr>
              <a:t>Use the desktop sidebar or ChatGPT on a desktop browser.</a:t>
            </a:r>
          </a:p>
        </p:txBody>
      </p:sp>
      <p:sp>
        <p:nvSpPr>
          <p:cNvPr id="6" name="">
            <a:extLst xmlns:a="http://schemas.openxmlformats.org/drawingml/2006/main">
              <a:ext uri="{FF2B5EF4-FFF2-40B4-BE49-F238E27FC236}">
                <a16:creationId xmlns:a16="http://schemas.microsoft.com/office/drawing/2014/main" id="{11281629-EA1B-40CF-AF5C-C5083EB3A3FC}"/>
              </a:ext>
            </a:extLst>
          </p:cNvPr>
          <p:cNvSpPr>
            <a:spLocks xmlns:a="http://schemas.openxmlformats.org/drawingml/2006/main" noGrp="1"/>
          </p:cNvSpPr>
          <p:nvPr/>
        </p:nvSpPr>
        <p:spPr>
          <a:xfrm xmlns:a="http://schemas.openxmlformats.org/drawingml/2006/main">
            <a:off x="685800" y="27908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D69"/>
                </a:solidFill>
                <a:latin typeface="Arial"/>
                <a:ea typeface="Arial"/>
                <a:cs typeface="Arial"/>
              </a:defRPr>
            </a:pPr>
            <a:r>
              <a:rPr sz="3375" b="1">
                <a:solidFill>
                  <a:srgbClr val="087D69"/>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F2464EE-C42D-4D40-A829-9AFFF01A45F1}"/>
              </a:ext>
            </a:extLst>
          </p:cNvPr>
          <p:cNvSpPr>
            <a:spLocks xmlns:a="http://schemas.openxmlformats.org/drawingml/2006/main" noGrp="1"/>
          </p:cNvSpPr>
          <p:nvPr/>
        </p:nvSpPr>
        <p:spPr>
          <a:xfrm xmlns:a="http://schemas.openxmlformats.org/drawingml/2006/main">
            <a:off x="1476375" y="27908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321"/>
                </a:solidFill>
                <a:latin typeface="Arial"/>
                <a:ea typeface="Arial"/>
                <a:cs typeface="Arial"/>
              </a:defRPr>
            </a:pPr>
            <a:r>
              <a:rPr sz="2400" b="1">
                <a:solidFill>
                  <a:srgbClr val="182321"/>
                </a:solidFill>
                <a:latin typeface="Arial"/>
                <a:ea typeface="Arial"/>
                <a:cs typeface="Arial"/>
              </a:rPr>
              <a:t>Connect the sources</a:t>
            </a:r>
          </a:p>
        </p:txBody>
      </p:sp>
      <p:sp>
        <p:nvSpPr>
          <p:cNvPr id="8" name="">
            <a:extLst xmlns:a="http://schemas.openxmlformats.org/drawingml/2006/main">
              <a:ext uri="{FF2B5EF4-FFF2-40B4-BE49-F238E27FC236}">
                <a16:creationId xmlns:a16="http://schemas.microsoft.com/office/drawing/2014/main" id="{1E85EBC5-1D46-4DE8-89BB-536A50AD2B96}"/>
              </a:ext>
            </a:extLst>
          </p:cNvPr>
          <p:cNvSpPr>
            <a:spLocks xmlns:a="http://schemas.openxmlformats.org/drawingml/2006/main" noGrp="1"/>
          </p:cNvSpPr>
          <p:nvPr/>
        </p:nvSpPr>
        <p:spPr>
          <a:xfrm xmlns:a="http://schemas.openxmlformats.org/drawingml/2006/main">
            <a:off x="1476375" y="32289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35F"/>
                </a:solidFill>
                <a:latin typeface="Arial"/>
                <a:ea typeface="Arial"/>
                <a:cs typeface="Arial"/>
              </a:defRPr>
            </a:pPr>
            <a:r>
              <a:rPr sz="2025" b="0">
                <a:solidFill>
                  <a:srgbClr val="59635F"/>
                </a:solidFill>
                <a:latin typeface="Arial"/>
                <a:ea typeface="Arial"/>
                <a:cs typeface="Arial"/>
              </a:rPr>
              <a:t>Add the apps and files needed for this responsibility.</a:t>
            </a:r>
          </a:p>
        </p:txBody>
      </p:sp>
      <p:sp>
        <p:nvSpPr>
          <p:cNvPr id="9" name="">
            <a:extLst xmlns:a="http://schemas.openxmlformats.org/drawingml/2006/main">
              <a:ext uri="{FF2B5EF4-FFF2-40B4-BE49-F238E27FC236}">
                <a16:creationId xmlns:a16="http://schemas.microsoft.com/office/drawing/2014/main" id="{CB671788-7BB2-4DBB-B5CF-A4F30A31AAF3}"/>
              </a:ext>
            </a:extLst>
          </p:cNvPr>
          <p:cNvSpPr>
            <a:spLocks xmlns:a="http://schemas.openxmlformats.org/drawingml/2006/main" noGrp="1"/>
          </p:cNvSpPr>
          <p:nvPr/>
        </p:nvSpPr>
        <p:spPr>
          <a:xfrm xmlns:a="http://schemas.openxmlformats.org/drawingml/2006/main">
            <a:off x="685800" y="38576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D69"/>
                </a:solidFill>
                <a:latin typeface="Arial"/>
                <a:ea typeface="Arial"/>
                <a:cs typeface="Arial"/>
              </a:defRPr>
            </a:pPr>
            <a:r>
              <a:rPr sz="3375" b="1">
                <a:solidFill>
                  <a:srgbClr val="087D69"/>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CA5F3B45-16C9-4AAE-AEBD-1340E713033E}"/>
              </a:ext>
            </a:extLst>
          </p:cNvPr>
          <p:cNvSpPr>
            <a:spLocks xmlns:a="http://schemas.openxmlformats.org/drawingml/2006/main" noGrp="1"/>
          </p:cNvSpPr>
          <p:nvPr/>
        </p:nvSpPr>
        <p:spPr>
          <a:xfrm xmlns:a="http://schemas.openxmlformats.org/drawingml/2006/main">
            <a:off x="1476375" y="38576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321"/>
                </a:solidFill>
                <a:latin typeface="Arial"/>
                <a:ea typeface="Arial"/>
                <a:cs typeface="Arial"/>
              </a:defRPr>
            </a:pPr>
            <a:r>
              <a:rPr sz="2400" b="1">
                <a:solidFill>
                  <a:srgbClr val="182321"/>
                </a:solidFill>
                <a:latin typeface="Arial"/>
                <a:ea typeface="Arial"/>
                <a:cs typeface="Arial"/>
              </a:rPr>
              <a:t>Give a specific assignment</a:t>
            </a:r>
          </a:p>
        </p:txBody>
      </p:sp>
      <p:sp>
        <p:nvSpPr>
          <p:cNvPr id="11" name="">
            <a:extLst xmlns:a="http://schemas.openxmlformats.org/drawingml/2006/main">
              <a:ext uri="{FF2B5EF4-FFF2-40B4-BE49-F238E27FC236}">
                <a16:creationId xmlns:a16="http://schemas.microsoft.com/office/drawing/2014/main" id="{A2EDB942-2015-4F44-83DE-C0481C9627D5}"/>
              </a:ext>
            </a:extLst>
          </p:cNvPr>
          <p:cNvSpPr>
            <a:spLocks xmlns:a="http://schemas.openxmlformats.org/drawingml/2006/main" noGrp="1"/>
          </p:cNvSpPr>
          <p:nvPr/>
        </p:nvSpPr>
        <p:spPr>
          <a:xfrm xmlns:a="http://schemas.openxmlformats.org/drawingml/2006/main">
            <a:off x="1476375" y="42957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35F"/>
                </a:solidFill>
                <a:latin typeface="Arial"/>
                <a:ea typeface="Arial"/>
                <a:cs typeface="Arial"/>
              </a:defRPr>
            </a:pPr>
            <a:r>
              <a:rPr sz="2025" b="0">
                <a:solidFill>
                  <a:srgbClr val="59635F"/>
                </a:solidFill>
                <a:latin typeface="Arial"/>
                <a:ea typeface="Arial"/>
                <a:cs typeface="Arial"/>
              </a:rPr>
              <a:t>Name the result, timing, updates, and decisions you keep.</a:t>
            </a:r>
          </a:p>
        </p:txBody>
      </p:sp>
      <p:sp>
        <p:nvSpPr>
          <p:cNvPr id="12" name="">
            <a:extLst xmlns:a="http://schemas.openxmlformats.org/drawingml/2006/main">
              <a:ext uri="{FF2B5EF4-FFF2-40B4-BE49-F238E27FC236}">
                <a16:creationId xmlns:a16="http://schemas.microsoft.com/office/drawing/2014/main" id="{D14094A6-82CF-41BB-A506-5D00EA99C4E9}"/>
              </a:ext>
            </a:extLst>
          </p:cNvPr>
          <p:cNvSpPr>
            <a:spLocks xmlns:a="http://schemas.openxmlformats.org/drawingml/2006/main" noGrp="1"/>
          </p:cNvSpPr>
          <p:nvPr/>
        </p:nvSpPr>
        <p:spPr>
          <a:xfrm xmlns:a="http://schemas.openxmlformats.org/drawingml/2006/main">
            <a:off x="685800" y="49244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D69"/>
                </a:solidFill>
                <a:latin typeface="Arial"/>
                <a:ea typeface="Arial"/>
                <a:cs typeface="Arial"/>
              </a:defRPr>
            </a:pPr>
            <a:r>
              <a:rPr sz="3375" b="1">
                <a:solidFill>
                  <a:srgbClr val="087D69"/>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15B6D4C1-C054-473B-9240-3CB389434573}"/>
              </a:ext>
            </a:extLst>
          </p:cNvPr>
          <p:cNvSpPr>
            <a:spLocks xmlns:a="http://schemas.openxmlformats.org/drawingml/2006/main" noGrp="1"/>
          </p:cNvSpPr>
          <p:nvPr/>
        </p:nvSpPr>
        <p:spPr>
          <a:xfrm xmlns:a="http://schemas.openxmlformats.org/drawingml/2006/main">
            <a:off x="1476375" y="49244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321"/>
                </a:solidFill>
                <a:latin typeface="Arial"/>
                <a:ea typeface="Arial"/>
                <a:cs typeface="Arial"/>
              </a:defRPr>
            </a:pPr>
            <a:r>
              <a:rPr sz="2400" b="1">
                <a:solidFill>
                  <a:srgbClr val="182321"/>
                </a:solidFill>
                <a:latin typeface="Arial"/>
                <a:ea typeface="Arial"/>
                <a:cs typeface="Arial"/>
              </a:rPr>
              <a:t>Review the first result</a:t>
            </a:r>
          </a:p>
        </p:txBody>
      </p:sp>
      <p:sp>
        <p:nvSpPr>
          <p:cNvPr id="14" name="">
            <a:extLst xmlns:a="http://schemas.openxmlformats.org/drawingml/2006/main">
              <a:ext uri="{FF2B5EF4-FFF2-40B4-BE49-F238E27FC236}">
                <a16:creationId xmlns:a16="http://schemas.microsoft.com/office/drawing/2014/main" id="{AA180C65-BA9D-4631-BBB1-CDDA6BAA08E1}"/>
              </a:ext>
            </a:extLst>
          </p:cNvPr>
          <p:cNvSpPr>
            <a:spLocks xmlns:a="http://schemas.openxmlformats.org/drawingml/2006/main" noGrp="1"/>
          </p:cNvSpPr>
          <p:nvPr/>
        </p:nvSpPr>
        <p:spPr>
          <a:xfrm xmlns:a="http://schemas.openxmlformats.org/drawingml/2006/main">
            <a:off x="1476375" y="53625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35F"/>
                </a:solidFill>
                <a:latin typeface="Arial"/>
                <a:ea typeface="Arial"/>
                <a:cs typeface="Arial"/>
              </a:defRPr>
            </a:pPr>
            <a:r>
              <a:rPr sz="2025" b="0">
                <a:solidFill>
                  <a:srgbClr val="59635F"/>
                </a:solidFill>
                <a:latin typeface="Arial"/>
                <a:ea typeface="Arial"/>
                <a:cs typeface="Arial"/>
              </a:rPr>
              <a:t>Correct missing context before adding more work.</a:t>
            </a:r>
          </a:p>
        </p:txBody>
      </p:sp>
    </p:spTree>
    <p:extLst>
      <p:ext uri="{BB962C8B-B14F-4D97-AF65-F5344CB8AC3E}">
        <p14:creationId xmlns:p14="http://schemas.microsoft.com/office/powerpoint/2010/main" val="1153019094"/>
      </p:ext>
    </p:extLst>
  </p:cSld>
</p:sld>
</file>

<file path=ppt/slides/slide7.xml><?xml version="1.0" encoding="utf-8"?>
<p:sld xmlns:p="http://schemas.openxmlformats.org/presentationml/2006/main">
  <p:cSld>
    <p:bg>
      <p:bgPr>
        <a:solidFill xmlns:a="http://schemas.openxmlformats.org/drawingml/2006/main">
          <a:srgbClr val="123D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916DD5-5BA7-44A5-8FC4-185D94223EFC}"/>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 first Dot assignment</a:t>
            </a:r>
          </a:p>
        </p:txBody>
      </p:sp>
      <p:sp>
        <p:nvSpPr>
          <p:cNvPr id="2" name="">
            <a:extLst xmlns:a="http://schemas.openxmlformats.org/drawingml/2006/main">
              <a:ext uri="{FF2B5EF4-FFF2-40B4-BE49-F238E27FC236}">
                <a16:creationId xmlns:a16="http://schemas.microsoft.com/office/drawing/2014/main" id="{280B087F-3B6A-4862-ADD3-6F36C154B002}"/>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9F4E6"/>
                </a:solidFill>
                <a:latin typeface="Arial"/>
                <a:ea typeface="Arial"/>
                <a:cs typeface="Arial"/>
              </a:defRPr>
            </a:pPr>
            <a:r>
              <a:rPr sz="1350" b="0">
                <a:solidFill>
                  <a:srgbClr val="D9F4E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524CFE47-BB4B-400E-A82F-ECE7B3D5EDFC}"/>
              </a:ext>
            </a:extLst>
          </p:cNvPr>
          <p:cNvSpPr>
            <a:spLocks xmlns:a="http://schemas.openxmlformats.org/drawingml/2006/main" noGrp="1"/>
          </p:cNvSpPr>
          <p:nvPr/>
        </p:nvSpPr>
        <p:spPr>
          <a:xfrm xmlns:a="http://schemas.openxmlformats.org/drawingml/2006/main">
            <a:off x="685800" y="16764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Keep our product demo ready for Friday.</a:t>
            </a:r>
          </a:p>
        </p:txBody>
      </p:sp>
      <p:sp>
        <p:nvSpPr>
          <p:cNvPr id="4" name="">
            <a:extLst xmlns:a="http://schemas.openxmlformats.org/drawingml/2006/main">
              <a:ext uri="{FF2B5EF4-FFF2-40B4-BE49-F238E27FC236}">
                <a16:creationId xmlns:a16="http://schemas.microsoft.com/office/drawing/2014/main" id="{560A7E98-66DA-439D-B9C1-26763E1F6924}"/>
              </a:ext>
            </a:extLst>
          </p:cNvPr>
          <p:cNvSpPr>
            <a:spLocks xmlns:a="http://schemas.openxmlformats.org/drawingml/2006/main" noGrp="1"/>
          </p:cNvSpPr>
          <p:nvPr/>
        </p:nvSpPr>
        <p:spPr>
          <a:xfrm xmlns:a="http://schemas.openxmlformats.org/drawingml/2006/main">
            <a:off x="685800" y="2733675"/>
            <a:ext cx="10820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Use the demo checklist and connected project channel.</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Check each weekday at 9 AM Asia/Tehran until Friday.</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Update the checklist when a deadline or owner changes.</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Tell me here only if the demo is at risk or you need a decision.</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Draft team messages for my review. Confirm the schedule.</a:t>
            </a:r>
          </a:p>
        </p:txBody>
      </p:sp>
      <p:sp>
        <p:nvSpPr>
          <p:cNvPr id="5" name="">
            <a:extLst xmlns:a="http://schemas.openxmlformats.org/drawingml/2006/main">
              <a:ext uri="{FF2B5EF4-FFF2-40B4-BE49-F238E27FC236}">
                <a16:creationId xmlns:a16="http://schemas.microsoft.com/office/drawing/2014/main" id="{0CC2E929-C5F2-478A-9347-76F54A21EE1E}"/>
              </a:ext>
            </a:extLst>
          </p:cNvPr>
          <p:cNvSpPr>
            <a:spLocks xmlns:a="http://schemas.openxmlformats.org/drawingml/2006/main" noGrp="1"/>
          </p:cNvSpPr>
          <p:nvPr/>
        </p:nvSpPr>
        <p:spPr>
          <a:xfrm xmlns:a="http://schemas.openxmlformats.org/drawingml/2006/main">
            <a:off x="685800" y="5686425"/>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9F4E6"/>
                </a:solidFill>
                <a:latin typeface="Arial"/>
                <a:ea typeface="Arial"/>
                <a:cs typeface="Arial"/>
              </a:defRPr>
            </a:pPr>
            <a:r>
              <a:rPr sz="1950" b="0">
                <a:solidFill>
                  <a:srgbClr val="D9F4E6"/>
                </a:solidFill>
                <a:latin typeface="Arial"/>
                <a:ea typeface="Arial"/>
                <a:cs typeface="Arial"/>
              </a:rPr>
              <a:t>Result + sources + timing + notification rule + approval boundary</a:t>
            </a:r>
          </a:p>
        </p:txBody>
      </p:sp>
    </p:spTree>
    <p:extLst>
      <p:ext uri="{BB962C8B-B14F-4D97-AF65-F5344CB8AC3E}">
        <p14:creationId xmlns:p14="http://schemas.microsoft.com/office/powerpoint/2010/main" val="745577106"/>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93DA8F-C4CC-4057-B525-5B3AFCE8C376}"/>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Dot and Codex work together</a:t>
            </a:r>
          </a:p>
        </p:txBody>
      </p:sp>
      <p:sp>
        <p:nvSpPr>
          <p:cNvPr id="2" name="">
            <a:extLst xmlns:a="http://schemas.openxmlformats.org/drawingml/2006/main">
              <a:ext uri="{FF2B5EF4-FFF2-40B4-BE49-F238E27FC236}">
                <a16:creationId xmlns:a16="http://schemas.microsoft.com/office/drawing/2014/main" id="{7BCCD3C2-FCAA-4BF6-8805-927309A9E16F}"/>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F6E760C-6E28-4B41-97B2-C28969C02FB1}"/>
              </a:ext>
            </a:extLst>
          </p:cNvPr>
          <p:cNvSpPr>
            <a:spLocks xmlns:a="http://schemas.openxmlformats.org/drawingml/2006/main" noGrp="1"/>
          </p:cNvSpPr>
          <p:nvPr/>
        </p:nvSpPr>
        <p:spPr>
          <a:xfrm xmlns:a="http://schemas.openxmlformats.org/drawingml/2006/main">
            <a:off x="685800" y="1704975"/>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2321"/>
                </a:solidFill>
                <a:latin typeface="Arial"/>
                <a:ea typeface="Arial"/>
                <a:cs typeface="Arial"/>
              </a:defRPr>
            </a:pPr>
            <a:r>
              <a:rPr sz="2625" b="1">
                <a:solidFill>
                  <a:srgbClr val="182321"/>
                </a:solidFill>
                <a:latin typeface="Arial"/>
                <a:ea typeface="Arial"/>
                <a:cs typeface="Arial"/>
              </a:rPr>
              <a:t>Use Codex directly for a focused edit, bug fix, or review.</a:t>
            </a:r>
          </a:p>
          <a:p xmlns:a="http://schemas.openxmlformats.org/drawingml/2006/main">
            <a:pPr>
              <a:defRPr sz="2625" b="1">
                <a:solidFill>
                  <a:srgbClr val="182321"/>
                </a:solidFill>
                <a:latin typeface="Arial"/>
                <a:ea typeface="Arial"/>
                <a:cs typeface="Arial"/>
              </a:defRPr>
            </a:pPr>
            <a:r>
              <a:rPr sz="2625" b="1">
                <a:solidFill>
                  <a:srgbClr val="182321"/>
                </a:solidFill>
                <a:latin typeface="Arial"/>
                <a:ea typeface="Arial"/>
                <a:cs typeface="Arial"/>
              </a:rPr>
              <a:t>Use Dot when you want follow-up across tasks and time.</a:t>
            </a:r>
          </a:p>
        </p:txBody>
      </p:sp>
      <p:sp>
        <p:nvSpPr>
          <p:cNvPr id="4" name="">
            <a:extLst xmlns:a="http://schemas.openxmlformats.org/drawingml/2006/main">
              <a:ext uri="{FF2B5EF4-FFF2-40B4-BE49-F238E27FC236}">
                <a16:creationId xmlns:a16="http://schemas.microsoft.com/office/drawing/2014/main" id="{7FA45BFA-4F57-4EB8-8412-EDF6124E4075}"/>
              </a:ext>
            </a:extLst>
          </p:cNvPr>
          <p:cNvSpPr>
            <a:spLocks xmlns:a="http://schemas.openxmlformats.org/drawingml/2006/main" noGrp="1"/>
          </p:cNvSpPr>
          <p:nvPr/>
        </p:nvSpPr>
        <p:spPr>
          <a:xfrm xmlns:a="http://schemas.openxmlformats.org/drawingml/2006/main">
            <a:off x="685800" y="3524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Code on your computer</a:t>
            </a:r>
          </a:p>
        </p:txBody>
      </p:sp>
      <p:sp>
        <p:nvSpPr>
          <p:cNvPr id="5" name="">
            <a:extLst xmlns:a="http://schemas.openxmlformats.org/drawingml/2006/main">
              <a:ext uri="{FF2B5EF4-FFF2-40B4-BE49-F238E27FC236}">
                <a16:creationId xmlns:a16="http://schemas.microsoft.com/office/drawing/2014/main" id="{AB58FDDE-7CA4-45D0-B4D9-CBEC80146B91}"/>
              </a:ext>
            </a:extLst>
          </p:cNvPr>
          <p:cNvSpPr>
            <a:spLocks xmlns:a="http://schemas.openxmlformats.org/drawingml/2006/main" noGrp="1"/>
          </p:cNvSpPr>
          <p:nvPr/>
        </p:nvSpPr>
        <p:spPr>
          <a:xfrm xmlns:a="http://schemas.openxmlformats.org/drawingml/2006/main">
            <a:off x="685800" y="4105275"/>
            <a:ext cx="5048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321"/>
                </a:solidFill>
                <a:latin typeface="Arial"/>
                <a:ea typeface="Arial"/>
                <a:cs typeface="Arial"/>
              </a:defRPr>
            </a:pPr>
            <a:r>
              <a:rPr sz="2325" b="0">
                <a:solidFill>
                  <a:srgbClr val="182321"/>
                </a:solidFill>
                <a:latin typeface="Arial"/>
                <a:ea typeface="Arial"/>
                <a:cs typeface="Arial"/>
              </a:rPr>
              <a:t>Connect the computer to Dot.</a:t>
            </a:r>
          </a:p>
          <a:p xmlns:a="http://schemas.openxmlformats.org/drawingml/2006/main">
            <a:pPr>
              <a:defRPr sz="2325" b="0">
                <a:solidFill>
                  <a:srgbClr val="182321"/>
                </a:solidFill>
                <a:latin typeface="Arial"/>
                <a:ea typeface="Arial"/>
                <a:cs typeface="Arial"/>
              </a:defRPr>
            </a:pPr>
            <a:r>
              <a:rPr sz="2325" b="0">
                <a:solidFill>
                  <a:srgbClr val="182321"/>
                </a:solidFill>
                <a:latin typeface="Arial"/>
                <a:ea typeface="Arial"/>
                <a:cs typeface="Arial"/>
              </a:rPr>
              <a:t>Keep it online with the app open.</a:t>
            </a:r>
          </a:p>
        </p:txBody>
      </p:sp>
      <p:sp>
        <p:nvSpPr>
          <p:cNvPr id="6" name="">
            <a:extLst xmlns:a="http://schemas.openxmlformats.org/drawingml/2006/main">
              <a:ext uri="{FF2B5EF4-FFF2-40B4-BE49-F238E27FC236}">
                <a16:creationId xmlns:a16="http://schemas.microsoft.com/office/drawing/2014/main" id="{9C935BD6-EAF1-4FD1-A0E6-7E6678228942}"/>
              </a:ext>
            </a:extLst>
          </p:cNvPr>
          <p:cNvSpPr>
            <a:spLocks xmlns:a="http://schemas.openxmlformats.org/drawingml/2006/main" noGrp="1"/>
          </p:cNvSpPr>
          <p:nvPr/>
        </p:nvSpPr>
        <p:spPr>
          <a:xfrm xmlns:a="http://schemas.openxmlformats.org/drawingml/2006/main">
            <a:off x="6667500" y="3524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Code in the cloud</a:t>
            </a:r>
          </a:p>
        </p:txBody>
      </p:sp>
      <p:sp>
        <p:nvSpPr>
          <p:cNvPr id="7" name="">
            <a:extLst xmlns:a="http://schemas.openxmlformats.org/drawingml/2006/main">
              <a:ext uri="{FF2B5EF4-FFF2-40B4-BE49-F238E27FC236}">
                <a16:creationId xmlns:a16="http://schemas.microsoft.com/office/drawing/2014/main" id="{4D66DEB4-352A-4098-8719-B3654AB4844E}"/>
              </a:ext>
            </a:extLst>
          </p:cNvPr>
          <p:cNvSpPr>
            <a:spLocks xmlns:a="http://schemas.openxmlformats.org/drawingml/2006/main" noGrp="1"/>
          </p:cNvSpPr>
          <p:nvPr/>
        </p:nvSpPr>
        <p:spPr>
          <a:xfrm xmlns:a="http://schemas.openxmlformats.org/drawingml/2006/main">
            <a:off x="6667500" y="4105275"/>
            <a:ext cx="4810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321"/>
                </a:solidFill>
                <a:latin typeface="Arial"/>
                <a:ea typeface="Arial"/>
                <a:cs typeface="Arial"/>
              </a:defRPr>
            </a:pPr>
            <a:r>
              <a:rPr sz="2325" b="0">
                <a:solidFill>
                  <a:srgbClr val="182321"/>
                </a:solidFill>
                <a:latin typeface="Arial"/>
                <a:ea typeface="Arial"/>
                <a:cs typeface="Arial"/>
              </a:rPr>
              <a:t>Set up a Codex cloud environment</a:t>
            </a:r>
          </a:p>
          <a:p xmlns:a="http://schemas.openxmlformats.org/drawingml/2006/main">
            <a:pPr>
              <a:defRPr sz="2325" b="0">
                <a:solidFill>
                  <a:srgbClr val="182321"/>
                </a:solidFill>
                <a:latin typeface="Arial"/>
                <a:ea typeface="Arial"/>
                <a:cs typeface="Arial"/>
              </a:defRPr>
            </a:pPr>
            <a:r>
              <a:rPr sz="2325" b="0">
                <a:solidFill>
                  <a:srgbClr val="182321"/>
                </a:solidFill>
                <a:latin typeface="Arial"/>
                <a:ea typeface="Arial"/>
                <a:cs typeface="Arial"/>
              </a:rPr>
              <a:t>with the repository and tools.</a:t>
            </a:r>
          </a:p>
        </p:txBody>
      </p:sp>
      <p:sp>
        <p:nvSpPr>
          <p:cNvPr id="8" name="">
            <a:extLst xmlns:a="http://schemas.openxmlformats.org/drawingml/2006/main">
              <a:ext uri="{FF2B5EF4-FFF2-40B4-BE49-F238E27FC236}">
                <a16:creationId xmlns:a16="http://schemas.microsoft.com/office/drawing/2014/main" id="{752836BE-BA7A-4FEF-B967-1F4617DA34A5}"/>
              </a:ext>
            </a:extLst>
          </p:cNvPr>
          <p:cNvSpPr>
            <a:spLocks xmlns:a="http://schemas.openxmlformats.org/drawingml/2006/main" noGrp="1"/>
          </p:cNvSpPr>
          <p:nvPr/>
        </p:nvSpPr>
        <p:spPr>
          <a:xfrm xmlns:a="http://schemas.openxmlformats.org/drawingml/2006/main">
            <a:off x="685800" y="56769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87D69"/>
                </a:solidFill>
                <a:latin typeface="Arial"/>
                <a:ea typeface="Arial"/>
                <a:cs typeface="Arial"/>
              </a:defRPr>
            </a:pPr>
            <a:r>
              <a:rPr sz="2025" b="0">
                <a:solidFill>
                  <a:srgbClr val="087D69"/>
                </a:solidFill>
                <a:latin typeface="Arial"/>
                <a:ea typeface="Arial"/>
                <a:cs typeface="Arial"/>
              </a:rPr>
              <a:t>Long task, clear end point? Use a Codex Goal with evidence of success.</a:t>
            </a:r>
          </a:p>
        </p:txBody>
      </p:sp>
    </p:spTree>
    <p:extLst>
      <p:ext uri="{BB962C8B-B14F-4D97-AF65-F5344CB8AC3E}">
        <p14:creationId xmlns:p14="http://schemas.microsoft.com/office/powerpoint/2010/main" val="512355308"/>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EF8D06-EA0E-4CAE-B4E9-C20FB6B9DC79}"/>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321"/>
                </a:solidFill>
                <a:latin typeface="Arial"/>
                <a:ea typeface="Arial"/>
                <a:cs typeface="Arial"/>
              </a:defRPr>
            </a:pPr>
            <a:r>
              <a:rPr sz="3600" b="1">
                <a:solidFill>
                  <a:srgbClr val="182321"/>
                </a:solidFill>
                <a:latin typeface="Arial"/>
                <a:ea typeface="Arial"/>
                <a:cs typeface="Arial"/>
              </a:rPr>
              <a:t>Review, steer, and stop the work</a:t>
            </a:r>
          </a:p>
        </p:txBody>
      </p:sp>
      <p:sp>
        <p:nvSpPr>
          <p:cNvPr id="2" name="">
            <a:extLst xmlns:a="http://schemas.openxmlformats.org/drawingml/2006/main">
              <a:ext uri="{FF2B5EF4-FFF2-40B4-BE49-F238E27FC236}">
                <a16:creationId xmlns:a16="http://schemas.microsoft.com/office/drawing/2014/main" id="{AC3C29F9-2A4E-4C76-9AAB-0A236452CAE7}"/>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35F"/>
                </a:solidFill>
                <a:latin typeface="Arial"/>
                <a:ea typeface="Arial"/>
                <a:cs typeface="Arial"/>
              </a:defRPr>
            </a:pPr>
            <a:r>
              <a:rPr sz="1350" b="0">
                <a:solidFill>
                  <a:srgbClr val="59635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7CF032A-1ED5-4193-9E0E-FF336C048037}"/>
              </a:ext>
            </a:extLst>
          </p:cNvPr>
          <p:cNvSpPr>
            <a:spLocks xmlns:a="http://schemas.openxmlformats.org/drawingml/2006/main" noGrp="1"/>
          </p:cNvSpPr>
          <p:nvPr/>
        </p:nvSpPr>
        <p:spPr>
          <a:xfrm xmlns:a="http://schemas.openxmlformats.org/drawingml/2006/main">
            <a:off x="685800" y="181927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See the work</a:t>
            </a:r>
          </a:p>
        </p:txBody>
      </p:sp>
      <p:sp>
        <p:nvSpPr>
          <p:cNvPr id="4" name="">
            <a:extLst xmlns:a="http://schemas.openxmlformats.org/drawingml/2006/main">
              <a:ext uri="{FF2B5EF4-FFF2-40B4-BE49-F238E27FC236}">
                <a16:creationId xmlns:a16="http://schemas.microsoft.com/office/drawing/2014/main" id="{91B960FB-084A-4B2B-8FF8-8BCC3CE2C0DB}"/>
              </a:ext>
            </a:extLst>
          </p:cNvPr>
          <p:cNvSpPr>
            <a:spLocks xmlns:a="http://schemas.openxmlformats.org/drawingml/2006/main" noGrp="1"/>
          </p:cNvSpPr>
          <p:nvPr/>
        </p:nvSpPr>
        <p:spPr>
          <a:xfrm xmlns:a="http://schemas.openxmlformats.org/drawingml/2006/main">
            <a:off x="685800" y="2419350"/>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Profile → Activity</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Open the task and</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review its results.</a:t>
            </a:r>
          </a:p>
        </p:txBody>
      </p:sp>
      <p:sp>
        <p:nvSpPr>
          <p:cNvPr id="5" name="">
            <a:extLst xmlns:a="http://schemas.openxmlformats.org/drawingml/2006/main">
              <a:ext uri="{FF2B5EF4-FFF2-40B4-BE49-F238E27FC236}">
                <a16:creationId xmlns:a16="http://schemas.microsoft.com/office/drawing/2014/main" id="{015F0EFF-F295-4386-9D95-BDC509EABB54}"/>
              </a:ext>
            </a:extLst>
          </p:cNvPr>
          <p:cNvSpPr>
            <a:spLocks xmlns:a="http://schemas.openxmlformats.org/drawingml/2006/main" noGrp="1"/>
          </p:cNvSpPr>
          <p:nvPr/>
        </p:nvSpPr>
        <p:spPr>
          <a:xfrm xmlns:a="http://schemas.openxmlformats.org/drawingml/2006/main">
            <a:off x="4391025" y="181927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Change direction</a:t>
            </a:r>
          </a:p>
        </p:txBody>
      </p:sp>
      <p:sp>
        <p:nvSpPr>
          <p:cNvPr id="6" name="">
            <a:extLst xmlns:a="http://schemas.openxmlformats.org/drawingml/2006/main">
              <a:ext uri="{FF2B5EF4-FFF2-40B4-BE49-F238E27FC236}">
                <a16:creationId xmlns:a16="http://schemas.microsoft.com/office/drawing/2014/main" id="{A16E8DE8-CC09-4E51-8D42-8463904077AE}"/>
              </a:ext>
            </a:extLst>
          </p:cNvPr>
          <p:cNvSpPr>
            <a:spLocks xmlns:a="http://schemas.openxmlformats.org/drawingml/2006/main" noGrp="1"/>
          </p:cNvSpPr>
          <p:nvPr/>
        </p:nvSpPr>
        <p:spPr>
          <a:xfrm xmlns:a="http://schemas.openxmlformats.org/drawingml/2006/main">
            <a:off x="4391025" y="24193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Give feedback in chat.</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State what matters</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and what needs approval.</a:t>
            </a:r>
          </a:p>
        </p:txBody>
      </p:sp>
      <p:sp>
        <p:nvSpPr>
          <p:cNvPr id="7" name="">
            <a:extLst xmlns:a="http://schemas.openxmlformats.org/drawingml/2006/main">
              <a:ext uri="{FF2B5EF4-FFF2-40B4-BE49-F238E27FC236}">
                <a16:creationId xmlns:a16="http://schemas.microsoft.com/office/drawing/2014/main" id="{EF144E15-CAB9-4623-AB4C-150B608FC736}"/>
              </a:ext>
            </a:extLst>
          </p:cNvPr>
          <p:cNvSpPr>
            <a:spLocks xmlns:a="http://schemas.openxmlformats.org/drawingml/2006/main" noGrp="1"/>
          </p:cNvSpPr>
          <p:nvPr/>
        </p:nvSpPr>
        <p:spPr>
          <a:xfrm xmlns:a="http://schemas.openxmlformats.org/drawingml/2006/main">
            <a:off x="8096250" y="181927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69"/>
                </a:solidFill>
                <a:latin typeface="Arial"/>
                <a:ea typeface="Arial"/>
                <a:cs typeface="Arial"/>
              </a:defRPr>
            </a:pPr>
            <a:r>
              <a:rPr sz="2025" b="1">
                <a:solidFill>
                  <a:srgbClr val="087D69"/>
                </a:solidFill>
                <a:latin typeface="Arial"/>
                <a:ea typeface="Arial"/>
                <a:cs typeface="Arial"/>
              </a:rPr>
              <a:t>End recurring work</a:t>
            </a:r>
          </a:p>
        </p:txBody>
      </p:sp>
      <p:sp>
        <p:nvSpPr>
          <p:cNvPr id="8" name="">
            <a:extLst xmlns:a="http://schemas.openxmlformats.org/drawingml/2006/main">
              <a:ext uri="{FF2B5EF4-FFF2-40B4-BE49-F238E27FC236}">
                <a16:creationId xmlns:a16="http://schemas.microsoft.com/office/drawing/2014/main" id="{3AA42E2C-EB3B-4FA0-8D78-AD4E4F4A6830}"/>
              </a:ext>
            </a:extLst>
          </p:cNvPr>
          <p:cNvSpPr>
            <a:spLocks xmlns:a="http://schemas.openxmlformats.org/drawingml/2006/main" noGrp="1"/>
          </p:cNvSpPr>
          <p:nvPr/>
        </p:nvSpPr>
        <p:spPr>
          <a:xfrm xmlns:a="http://schemas.openxmlformats.org/drawingml/2006/main">
            <a:off x="8096250" y="2419350"/>
            <a:ext cx="3381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Open Scheduled.</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Disable or delete</a:t>
            </a:r>
          </a:p>
          <a:p xmlns:a="http://schemas.openxmlformats.org/drawingml/2006/main">
            <a:pPr>
              <a:defRPr sz="2400" b="0">
                <a:solidFill>
                  <a:srgbClr val="182321"/>
                </a:solidFill>
                <a:latin typeface="Arial"/>
                <a:ea typeface="Arial"/>
                <a:cs typeface="Arial"/>
              </a:defRPr>
            </a:pPr>
            <a:r>
              <a:rPr sz="2400" b="0">
                <a:solidFill>
                  <a:srgbClr val="182321"/>
                </a:solidFill>
                <a:latin typeface="Arial"/>
                <a:ea typeface="Arial"/>
                <a:cs typeface="Arial"/>
              </a:rPr>
              <a:t>the saved schedule.</a:t>
            </a:r>
          </a:p>
        </p:txBody>
      </p:sp>
      <p:sp>
        <p:nvSpPr>
          <p:cNvPr id="9" name="">
            <a:extLst xmlns:a="http://schemas.openxmlformats.org/drawingml/2006/main">
              <a:ext uri="{FF2B5EF4-FFF2-40B4-BE49-F238E27FC236}">
                <a16:creationId xmlns:a16="http://schemas.microsoft.com/office/drawing/2014/main" id="{61567F18-EECC-4001-8360-487BC0C14E1D}"/>
              </a:ext>
            </a:extLst>
          </p:cNvPr>
          <p:cNvSpPr>
            <a:spLocks xmlns:a="http://schemas.openxmlformats.org/drawingml/2006/main" noGrp="1"/>
          </p:cNvSpPr>
          <p:nvPr/>
        </p:nvSpPr>
        <p:spPr>
          <a:xfrm xmlns:a="http://schemas.openxmlformats.org/drawingml/2006/main">
            <a:off x="685800" y="49053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2321"/>
                </a:solidFill>
                <a:latin typeface="Arial"/>
                <a:ea typeface="Arial"/>
                <a:cs typeface="Arial"/>
              </a:defRPr>
            </a:pPr>
            <a:r>
              <a:rPr sz="2700" b="1">
                <a:solidFill>
                  <a:srgbClr val="182321"/>
                </a:solidFill>
                <a:latin typeface="Arial"/>
                <a:ea typeface="Arial"/>
                <a:cs typeface="Arial"/>
              </a:rPr>
              <a:t>Pause affects the main task.</a:t>
            </a:r>
          </a:p>
          <a:p xmlns:a="http://schemas.openxmlformats.org/drawingml/2006/main">
            <a:pPr>
              <a:defRPr sz="2700" b="1">
                <a:solidFill>
                  <a:srgbClr val="182321"/>
                </a:solidFill>
                <a:latin typeface="Arial"/>
                <a:ea typeface="Arial"/>
                <a:cs typeface="Arial"/>
              </a:defRPr>
            </a:pPr>
            <a:r>
              <a:rPr sz="2700" b="1">
                <a:solidFill>
                  <a:srgbClr val="182321"/>
                </a:solidFill>
                <a:latin typeface="Arial"/>
                <a:ea typeface="Arial"/>
                <a:cs typeface="Arial"/>
              </a:rPr>
              <a:t>Stop delegated tasks and schedules separately.</a:t>
            </a:r>
          </a:p>
        </p:txBody>
      </p:sp>
    </p:spTree>
    <p:extLst>
      <p:ext uri="{BB962C8B-B14F-4D97-AF65-F5344CB8AC3E}">
        <p14:creationId xmlns:p14="http://schemas.microsoft.com/office/powerpoint/2010/main" val="1359836871"/>
      </p:ext>
    </p:extLst>
  </p:cSld>
</p:sld>
</file>

<file path=ppt/slides/slide10.xml><?xml version="1.0" encoding="utf-8"?>
<p:sld xmlns:p="http://schemas.openxmlformats.org/presentationml/2006/main">
  <p:cSld>
    <p:bg>
      <p:bgPr>
        <a:solidFill xmlns:a="http://schemas.openxmlformats.org/drawingml/2006/main">
          <a:srgbClr val="123D3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115A62-6BE2-4AA7-AB19-74F145518755}"/>
              </a:ext>
            </a:extLst>
          </p:cNvPr>
          <p:cNvSpPr>
            <a:spLocks xmlns:a="http://schemas.openxmlformats.org/drawingml/2006/main" noGrp="1"/>
          </p:cNvSpPr>
          <p:nvPr/>
        </p:nvSpPr>
        <p:spPr>
          <a:xfrm xmlns:a="http://schemas.openxmlformats.org/drawingml/2006/main">
            <a:off x="685800" y="51435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Which one will you use?</a:t>
            </a:r>
          </a:p>
        </p:txBody>
      </p:sp>
      <p:sp>
        <p:nvSpPr>
          <p:cNvPr id="2" name="">
            <a:extLst xmlns:a="http://schemas.openxmlformats.org/drawingml/2006/main">
              <a:ext uri="{FF2B5EF4-FFF2-40B4-BE49-F238E27FC236}">
                <a16:creationId xmlns:a16="http://schemas.microsoft.com/office/drawing/2014/main" id="{63FC8059-0819-42AB-9CC2-348B2EB75C01}"/>
              </a:ext>
            </a:extLst>
          </p:cNvPr>
          <p:cNvSpPr>
            <a:spLocks xmlns:a="http://schemas.openxmlformats.org/drawingml/2006/main" noGrp="1"/>
          </p:cNvSpPr>
          <p:nvPr/>
        </p:nvSpPr>
        <p:spPr>
          <a:xfrm xmlns:a="http://schemas.openxmlformats.org/drawingml/2006/main">
            <a:off x="11144250" y="62674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9F4E6"/>
                </a:solidFill>
                <a:latin typeface="Arial"/>
                <a:ea typeface="Arial"/>
                <a:cs typeface="Arial"/>
              </a:defRPr>
            </a:pPr>
            <a:r>
              <a:rPr sz="1350" b="0">
                <a:solidFill>
                  <a:srgbClr val="D9F4E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39EA616-FDAB-48DE-89F3-29AD1DBF9381}"/>
              </a:ext>
            </a:extLst>
          </p:cNvPr>
          <p:cNvSpPr>
            <a:spLocks xmlns:a="http://schemas.openxmlformats.org/drawingml/2006/main" noGrp="1"/>
          </p:cNvSpPr>
          <p:nvPr/>
        </p:nvSpPr>
        <p:spPr>
          <a:xfrm xmlns:a="http://schemas.openxmlformats.org/drawingml/2006/main">
            <a:off x="685800" y="18669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One result now</a:t>
            </a:r>
          </a:p>
        </p:txBody>
      </p:sp>
      <p:sp>
        <p:nvSpPr>
          <p:cNvPr id="4" name="">
            <a:extLst xmlns:a="http://schemas.openxmlformats.org/drawingml/2006/main">
              <a:ext uri="{FF2B5EF4-FFF2-40B4-BE49-F238E27FC236}">
                <a16:creationId xmlns:a16="http://schemas.microsoft.com/office/drawing/2014/main" id="{38345E6B-0970-4531-B68B-90EC8825C815}"/>
              </a:ext>
            </a:extLst>
          </p:cNvPr>
          <p:cNvSpPr>
            <a:spLocks xmlns:a="http://schemas.openxmlformats.org/drawingml/2006/main" noGrp="1"/>
          </p:cNvSpPr>
          <p:nvPr/>
        </p:nvSpPr>
        <p:spPr>
          <a:xfrm xmlns:a="http://schemas.openxmlformats.org/drawingml/2006/main">
            <a:off x="8334375" y="1943100"/>
            <a:ext cx="3143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D9F4E6"/>
                </a:solidFill>
                <a:latin typeface="Arial"/>
                <a:ea typeface="Arial"/>
                <a:cs typeface="Arial"/>
              </a:defRPr>
            </a:pPr>
            <a:r>
              <a:rPr sz="2700" b="1">
                <a:solidFill>
                  <a:srgbClr val="D9F4E6"/>
                </a:solidFill>
                <a:latin typeface="Arial"/>
                <a:ea typeface="Arial"/>
                <a:cs typeface="Arial"/>
              </a:rPr>
              <a:t>Codex chat</a:t>
            </a:r>
          </a:p>
        </p:txBody>
      </p:sp>
      <p:sp>
        <p:nvSpPr>
          <p:cNvPr id="5" name="">
            <a:extLst xmlns:a="http://schemas.openxmlformats.org/drawingml/2006/main">
              <a:ext uri="{FF2B5EF4-FFF2-40B4-BE49-F238E27FC236}">
                <a16:creationId xmlns:a16="http://schemas.microsoft.com/office/drawing/2014/main" id="{C993BA82-0A9E-41D0-8E9B-D060DA973BFB}"/>
              </a:ext>
            </a:extLst>
          </p:cNvPr>
          <p:cNvSpPr>
            <a:spLocks xmlns:a="http://schemas.openxmlformats.org/drawingml/2006/main" noGrp="1"/>
          </p:cNvSpPr>
          <p:nvPr/>
        </p:nvSpPr>
        <p:spPr>
          <a:xfrm xmlns:a="http://schemas.openxmlformats.org/drawingml/2006/main">
            <a:off x="685800" y="315277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Repeat this check</a:t>
            </a:r>
          </a:p>
        </p:txBody>
      </p:sp>
      <p:sp>
        <p:nvSpPr>
          <p:cNvPr id="6" name="">
            <a:extLst xmlns:a="http://schemas.openxmlformats.org/drawingml/2006/main">
              <a:ext uri="{FF2B5EF4-FFF2-40B4-BE49-F238E27FC236}">
                <a16:creationId xmlns:a16="http://schemas.microsoft.com/office/drawing/2014/main" id="{4730D86B-8428-4A67-80DA-919DF92C01D1}"/>
              </a:ext>
            </a:extLst>
          </p:cNvPr>
          <p:cNvSpPr>
            <a:spLocks xmlns:a="http://schemas.openxmlformats.org/drawingml/2006/main" noGrp="1"/>
          </p:cNvSpPr>
          <p:nvPr/>
        </p:nvSpPr>
        <p:spPr>
          <a:xfrm xmlns:a="http://schemas.openxmlformats.org/drawingml/2006/main">
            <a:off x="8334375" y="3228975"/>
            <a:ext cx="3143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D9F4E6"/>
                </a:solidFill>
                <a:latin typeface="Arial"/>
                <a:ea typeface="Arial"/>
                <a:cs typeface="Arial"/>
              </a:defRPr>
            </a:pPr>
            <a:r>
              <a:rPr sz="2700" b="1">
                <a:solidFill>
                  <a:srgbClr val="D9F4E6"/>
                </a:solidFill>
                <a:latin typeface="Arial"/>
                <a:ea typeface="Arial"/>
                <a:cs typeface="Arial"/>
              </a:rPr>
              <a:t>Claude /loop</a:t>
            </a:r>
          </a:p>
        </p:txBody>
      </p:sp>
      <p:sp>
        <p:nvSpPr>
          <p:cNvPr id="7" name="">
            <a:extLst xmlns:a="http://schemas.openxmlformats.org/drawingml/2006/main">
              <a:ext uri="{FF2B5EF4-FFF2-40B4-BE49-F238E27FC236}">
                <a16:creationId xmlns:a16="http://schemas.microsoft.com/office/drawing/2014/main" id="{1A5A2950-4546-42CB-8D10-7735D65581BD}"/>
              </a:ext>
            </a:extLst>
          </p:cNvPr>
          <p:cNvSpPr>
            <a:spLocks xmlns:a="http://schemas.openxmlformats.org/drawingml/2006/main" noGrp="1"/>
          </p:cNvSpPr>
          <p:nvPr/>
        </p:nvSpPr>
        <p:spPr>
          <a:xfrm xmlns:a="http://schemas.openxmlformats.org/drawingml/2006/main">
            <a:off x="685800" y="4438650"/>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Keep this work moving</a:t>
            </a:r>
          </a:p>
        </p:txBody>
      </p:sp>
      <p:sp>
        <p:nvSpPr>
          <p:cNvPr id="8" name="">
            <a:extLst xmlns:a="http://schemas.openxmlformats.org/drawingml/2006/main">
              <a:ext uri="{FF2B5EF4-FFF2-40B4-BE49-F238E27FC236}">
                <a16:creationId xmlns:a16="http://schemas.microsoft.com/office/drawing/2014/main" id="{306FB09F-DFAD-4613-B4BF-F0959E98E78C}"/>
              </a:ext>
            </a:extLst>
          </p:cNvPr>
          <p:cNvSpPr>
            <a:spLocks xmlns:a="http://schemas.openxmlformats.org/drawingml/2006/main" noGrp="1"/>
          </p:cNvSpPr>
          <p:nvPr/>
        </p:nvSpPr>
        <p:spPr>
          <a:xfrm xmlns:a="http://schemas.openxmlformats.org/drawingml/2006/main">
            <a:off x="8334375" y="4514850"/>
            <a:ext cx="3143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D9F4E6"/>
                </a:solidFill>
                <a:latin typeface="Arial"/>
                <a:ea typeface="Arial"/>
                <a:cs typeface="Arial"/>
              </a:defRPr>
            </a:pPr>
            <a:r>
              <a:rPr sz="2700" b="1">
                <a:solidFill>
                  <a:srgbClr val="D9F4E6"/>
                </a:solidFill>
                <a:latin typeface="Arial"/>
                <a:ea typeface="Arial"/>
                <a:cs typeface="Arial"/>
              </a:rPr>
              <a:t>Dot</a:t>
            </a:r>
          </a:p>
        </p:txBody>
      </p:sp>
      <p:sp>
        <p:nvSpPr>
          <p:cNvPr id="9" name="">
            <a:extLst xmlns:a="http://schemas.openxmlformats.org/drawingml/2006/main">
              <a:ext uri="{FF2B5EF4-FFF2-40B4-BE49-F238E27FC236}">
                <a16:creationId xmlns:a16="http://schemas.microsoft.com/office/drawing/2014/main" id="{E9301838-E8D1-4C44-8FE5-46C09BBD083C}"/>
              </a:ext>
            </a:extLst>
          </p:cNvPr>
          <p:cNvSpPr>
            <a:spLocks xmlns:a="http://schemas.openxmlformats.org/drawingml/2006/main" noGrp="1"/>
          </p:cNvSpPr>
          <p:nvPr/>
        </p:nvSpPr>
        <p:spPr>
          <a:xfrm xmlns:a="http://schemas.openxmlformats.org/drawingml/2006/main">
            <a:off x="685800" y="58388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9F4E6"/>
                </a:solidFill>
                <a:latin typeface="Arial"/>
                <a:ea typeface="Arial"/>
                <a:cs typeface="Arial"/>
              </a:defRPr>
            </a:pPr>
            <a:r>
              <a:rPr sz="2175" b="0">
                <a:solidFill>
                  <a:srgbClr val="D9F4E6"/>
                </a:solidFill>
                <a:latin typeface="Arial"/>
                <a:ea typeface="Arial"/>
                <a:cs typeface="Arial"/>
              </a:rPr>
              <a:t>Try it: “Keep next week’s client demo on track.”</a:t>
            </a:r>
          </a:p>
        </p:txBody>
      </p:sp>
    </p:spTree>
    <p:extLst>
      <p:ext uri="{BB962C8B-B14F-4D97-AF65-F5344CB8AC3E}">
        <p14:creationId xmlns:p14="http://schemas.microsoft.com/office/powerpoint/2010/main" val="19018374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2026-09-30T19:39:12.7200000Z</dcterms:created>
  <dcterms:modified xsi:type="dcterms:W3CDTF">2026-09-30T19:39:12.7290000Z</dcterms:modified>
</coreProperties>
</file>